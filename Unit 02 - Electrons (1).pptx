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5143500" cx="9144000"/>
  <p:notesSz cx="68580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E92DA1-1416-4A9D-8824-CFE182A58F91}">
  <a:tblStyle styleId="{9BE92DA1-1416-4A9D-8824-CFE182A58F9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199FBE3-7747-4EAC-A1E9-842E0F6D81C5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60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9195d933f4_0_0:notes"/>
          <p:cNvSpPr/>
          <p:nvPr>
            <p:ph idx="2" type="sldImg"/>
          </p:nvPr>
        </p:nvSpPr>
        <p:spPr>
          <a:xfrm>
            <a:off x="381300" y="697230"/>
            <a:ext cx="60960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9195d933f4_0_0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1767c4362_0_0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b1767c4362_0_0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2b1767c4362_0_0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8df0e515a9_0_6:notes"/>
          <p:cNvSpPr/>
          <p:nvPr>
            <p:ph idx="2" type="sldImg"/>
          </p:nvPr>
        </p:nvSpPr>
        <p:spPr>
          <a:xfrm>
            <a:off x="381300" y="697230"/>
            <a:ext cx="60960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8df0e515a9_0_6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c06f64cd1_0_25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c06f64cd1_0_25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9c06f64cd1_0_25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9c06f64cd1_0_12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9c06f64cd1_0_12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9c06f64cd1_0_12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c06f64cd1_0_0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c06f64cd1_0_0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9c06f64cd1_0_0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585aad6b2_0_0:notes"/>
          <p:cNvSpPr txBox="1"/>
          <p:nvPr>
            <p:ph idx="1" type="body"/>
          </p:nvPr>
        </p:nvSpPr>
        <p:spPr>
          <a:xfrm>
            <a:off x="685800" y="4415775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1585aad6b2_0_0:notes"/>
          <p:cNvSpPr/>
          <p:nvPr>
            <p:ph idx="2" type="sldImg"/>
          </p:nvPr>
        </p:nvSpPr>
        <p:spPr>
          <a:xfrm>
            <a:off x="381187" y="697225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585aad6b2_0_5:notes"/>
          <p:cNvSpPr txBox="1"/>
          <p:nvPr>
            <p:ph idx="1" type="body"/>
          </p:nvPr>
        </p:nvSpPr>
        <p:spPr>
          <a:xfrm>
            <a:off x="685800" y="4415775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1585aad6b2_0_5:notes"/>
          <p:cNvSpPr/>
          <p:nvPr>
            <p:ph idx="2" type="sldImg"/>
          </p:nvPr>
        </p:nvSpPr>
        <p:spPr>
          <a:xfrm>
            <a:off x="381187" y="697225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9c06f64cd1_0_18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9c06f64cd1_0_18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9c06f64cd1_0_18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f9b8299372_0_9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f9b8299372_0_9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f9b8299372_0_9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f9b8299372_0_17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f9b8299372_0_17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f9b8299372_0_17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f9b8299372_0_24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f9b8299372_0_24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f9b8299372_0_24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7a4b63f8e_0_0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87a4b63f8e_0_0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87a4b63f8e_0_0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7a4b63f8e_1_44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87a4b63f8e_1_44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87a4b63f8e_1_44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87a4b63f8e_1_95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3" name="Google Shape;373;g387a4b63f8e_1_95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87a4b63f8e_1_95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87a4b63f8e_1_106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5" name="Google Shape;385;g387a4b63f8e_1_106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87a4b63f8e_1_106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5" name="Google Shape;395;p18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5" name="Google Shape;405;p19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9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87a4b63f8e_1_83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87a4b63f8e_1_83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87a4b63f8e_1_83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5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34" name="Google Shape;534;p15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a04e8c5c6a_0_213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a04e8c5c6a_0_213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a04e8c5c6a_0_219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a04e8c5c6a_0_219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a04e8c5c6a_0_224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a04e8c5c6a_0_224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a04e8c5c6a_0_231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a04e8c5c6a_0_231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a04e8c5c6a_0_238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a04e8c5c6a_0_238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a04e8c5c6a_0_245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a04e8c5c6a_0_245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a04e8c5c6a_0_252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a04e8c5c6a_0_252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a04e8c5c6a_0_259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a04e8c5c6a_0_259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a04e8c5c6a_0_266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a04e8c5c6a_0_266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a04e8c5c6a_0_273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a04e8c5c6a_0_273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a04e8c5c6a_0_280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a04e8c5c6a_0_280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a04e8c5c6a_0_287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a04e8c5c6a_0_287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f84791c861_0_0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f84791c861_0_0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a04e8c5c6a_0_294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a04e8c5c6a_0_294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a04e8c5c6a_0_336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a04e8c5c6a_0_336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a04e8c5c6a_0_0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a04e8c5c6a_0_0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a04e8c5c6a_0_5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a04e8c5c6a_0_5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63" name="Google Shape;763;p3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9195d933f4_0_52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9195d933f4_0_52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g29195d933f4_0_52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a04e8c5c6a_0_121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ga04e8c5c6a_0_121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89" name="Google Shape;789;p7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7:notes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9c06f64cd1_0_32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9c06f64cd1_0_32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9c06f64cd1_0_32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a04e8c5c6a_0_10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ga04e8c5c6a_0_10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a04e8c5c6a_0_20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a04e8c5c6a_0_20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a04e8c5c6a_0_27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ga04e8c5c6a_0_27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a04e8c5c6a_0_33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ga04e8c5c6a_0_33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a04e8c5c6a_0_44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ga04e8c5c6a_0_44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a04e8c5c6a_0_54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ga04e8c5c6a_0_54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a04e8c5c6a_0_63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ga04e8c5c6a_0_63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a04e8c5c6a_0_70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ga04e8c5c6a_0_70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a04e8c5c6a_0_75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ga04e8c5c6a_0_75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a04e8c5c6a_0_80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ga04e8c5c6a_0_80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a04e8c5c6a_0_85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ga04e8c5c6a_0_85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a04e8c5c6a_0_92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ga04e8c5c6a_0_92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a04e8c5c6a_0_100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ga04e8c5c6a_0_100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a04e8c5c6a_0_106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ga04e8c5c6a_0_106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985f42a563_0_0:notes"/>
          <p:cNvSpPr/>
          <p:nvPr>
            <p:ph idx="2" type="sldImg"/>
          </p:nvPr>
        </p:nvSpPr>
        <p:spPr>
          <a:xfrm>
            <a:off x="3302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985f42a563_0_0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g2985f42a563_0_0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a04e8c5c6a_0_127:notes"/>
          <p:cNvSpPr txBox="1"/>
          <p:nvPr>
            <p:ph idx="1" type="body"/>
          </p:nvPr>
        </p:nvSpPr>
        <p:spPr>
          <a:xfrm>
            <a:off x="686421" y="4416425"/>
            <a:ext cx="5485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ga04e8c5c6a_0_127:notes"/>
          <p:cNvSpPr/>
          <p:nvPr>
            <p:ph idx="2" type="sldImg"/>
          </p:nvPr>
        </p:nvSpPr>
        <p:spPr>
          <a:xfrm>
            <a:off x="397574" y="696912"/>
            <a:ext cx="6062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a04e8c5c6a_0_378:notes"/>
          <p:cNvSpPr txBox="1"/>
          <p:nvPr>
            <p:ph idx="1" type="body"/>
          </p:nvPr>
        </p:nvSpPr>
        <p:spPr>
          <a:xfrm>
            <a:off x="685800" y="4415790"/>
            <a:ext cx="5486400" cy="41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ga04e8c5c6a_0_378:notes"/>
          <p:cNvSpPr/>
          <p:nvPr>
            <p:ph idx="2" type="sldImg"/>
          </p:nvPr>
        </p:nvSpPr>
        <p:spPr>
          <a:xfrm>
            <a:off x="381175" y="697230"/>
            <a:ext cx="60963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None/>
              <a:defRPr sz="14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685800" y="148590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mic Sans M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»"/>
              <a:defRPr sz="18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4648200" y="148590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mic Sans M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»"/>
              <a:defRPr sz="18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»"/>
              <a:defRPr sz="16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Char char="»"/>
              <a:defRPr sz="1600"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mic Sans MS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mic Sans MS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Char char="»"/>
              <a:defRPr sz="2000"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omic Sans M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mic Sans M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mic Sans M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mic Sans M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mic Sans M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mic Sans M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mic Sans MS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SzPts val="3200"/>
              <a:buNone/>
              <a:defRPr i="0" sz="3200" u="none" cap="none" strike="noStrike"/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i="0" sz="2800" u="none" cap="none" strike="noStrike"/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i="0" sz="2400" u="none" cap="none" strike="noStrike"/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SzPts val="2000"/>
              <a:buNone/>
              <a:defRPr i="0" sz="2000" u="none" cap="none" strike="noStrike"/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SzPts val="2000"/>
              <a:buNone/>
              <a:defRPr i="0" sz="2000" u="none" cap="none" strike="noStrike"/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SzPts val="2000"/>
              <a:buNone/>
              <a:defRPr i="0" sz="2000" u="none" cap="none" strike="noStrike"/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SzPts val="2000"/>
              <a:buNone/>
              <a:defRPr i="0" sz="2000" u="none" cap="none" strike="noStrike"/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SzPts val="2000"/>
              <a:buNone/>
              <a:defRPr i="0" sz="2000" u="none" cap="none" strike="noStrike"/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SzPts val="2000"/>
              <a:buNone/>
              <a:defRPr i="0" sz="2000" u="none" cap="none" strike="noStrike"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3028950" y="-857250"/>
            <a:ext cx="30861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 rot="5400000">
            <a:off x="5429250" y="1543050"/>
            <a:ext cx="41148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 rot="5400000">
            <a:off x="1466850" y="-323850"/>
            <a:ext cx="41148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0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rtl="0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rtl="0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rtl="0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rtl="0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rtl="0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rtl="0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»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EFD1"/>
            </a:gs>
            <a:gs pos="65000">
              <a:srgbClr val="F0EBD5"/>
            </a:gs>
            <a:gs pos="100000">
              <a:srgbClr val="D1C39F"/>
            </a:gs>
          </a:gsLst>
          <a:lin ang="5400012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/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/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/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/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/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/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/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/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i="0" sz="2400" u="none" cap="none" strike="noStrike"/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i="0" sz="2400" u="none" cap="none" strike="noStrike"/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i="0" sz="2400" u="none" cap="none" strike="noStrike"/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i="0" sz="2400" u="none" cap="none" strike="noStrike"/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SzPts val="2400"/>
              <a:buChar char="»"/>
              <a:defRPr i="0" sz="2400" u="none" cap="none" strike="noStrike"/>
            </a:lvl5pPr>
            <a:lvl6pPr indent="-381000" lvl="5" marL="2743200" marR="0" rtl="0" algn="l">
              <a:spcBef>
                <a:spcPts val="480"/>
              </a:spcBef>
              <a:spcAft>
                <a:spcPts val="0"/>
              </a:spcAft>
              <a:buSzPts val="2400"/>
              <a:buChar char="»"/>
              <a:defRPr i="0" sz="2400" u="none" cap="none" strike="noStrike"/>
            </a:lvl6pPr>
            <a:lvl7pPr indent="-381000" lvl="6" marL="3200400" marR="0" rtl="0" algn="l">
              <a:spcBef>
                <a:spcPts val="480"/>
              </a:spcBef>
              <a:spcAft>
                <a:spcPts val="0"/>
              </a:spcAft>
              <a:buSzPts val="2400"/>
              <a:buChar char="»"/>
              <a:defRPr i="0" sz="2400" u="none" cap="none" strike="noStrike"/>
            </a:lvl7pPr>
            <a:lvl8pPr indent="-381000" lvl="7" marL="3657600" marR="0" rtl="0" algn="l">
              <a:spcBef>
                <a:spcPts val="480"/>
              </a:spcBef>
              <a:spcAft>
                <a:spcPts val="0"/>
              </a:spcAft>
              <a:buSzPts val="2400"/>
              <a:buChar char="»"/>
              <a:defRPr i="0" sz="2400" u="none" cap="none" strike="noStrike"/>
            </a:lvl8pPr>
            <a:lvl9pPr indent="-381000" lvl="8" marL="4114800" marR="0" rtl="0" algn="l">
              <a:spcBef>
                <a:spcPts val="480"/>
              </a:spcBef>
              <a:spcAft>
                <a:spcPts val="0"/>
              </a:spcAft>
              <a:buSzPts val="2400"/>
              <a:buChar char="»"/>
              <a:defRPr i="0" sz="24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XBqHkraf8iE" TargetMode="External"/><Relationship Id="rId4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lacan.upc.edu/admoreWeb/2018/05/all-models-are-wrong-but-some-are-useful-george-e-p-box/" TargetMode="External"/><Relationship Id="rId4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about:blank" TargetMode="External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about:blank" TargetMode="External"/><Relationship Id="rId4" Type="http://schemas.openxmlformats.org/officeDocument/2006/relationships/image" Target="../media/image19.jpg"/><Relationship Id="rId5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slideplayer.com/slide/16200836/" TargetMode="External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slideplayer.com/slide/16200836/" TargetMode="External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socratic.org/questions/what-is-the-madelung-s-rule" TargetMode="External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about:blank" TargetMode="External"/><Relationship Id="rId4" Type="http://schemas.openxmlformats.org/officeDocument/2006/relationships/image" Target="../media/image1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Relationship Id="rId4" Type="http://schemas.openxmlformats.org/officeDocument/2006/relationships/hyperlink" Target="http://en.wikipedia.org/wiki/Electron_configuration" TargetMode="External"/><Relationship Id="rId5" Type="http://schemas.openxmlformats.org/officeDocument/2006/relationships/hyperlink" Target="http://en.wikipedia.org/wiki/Aufbau_principle" TargetMode="External"/><Relationship Id="rId6" Type="http://schemas.openxmlformats.org/officeDocument/2006/relationships/hyperlink" Target="http://en.wikipedia.org/wiki/Madelung%27s_rule" TargetMode="External"/><Relationship Id="rId7" Type="http://schemas.openxmlformats.org/officeDocument/2006/relationships/hyperlink" Target="http://en.wikipedia.org/wiki/Transition_metal" TargetMode="External"/><Relationship Id="rId8" Type="http://schemas.openxmlformats.org/officeDocument/2006/relationships/hyperlink" Target="http://en.wikipedia.org/wiki/Electron_configuration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www.youtube.com/watch?v=W2Xb2GFK2yc" TargetMode="External"/><Relationship Id="rId4" Type="http://schemas.openxmlformats.org/officeDocument/2006/relationships/image" Target="../media/image18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0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1.jpg"/><Relationship Id="rId4" Type="http://schemas.openxmlformats.org/officeDocument/2006/relationships/image" Target="../media/image32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0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5" Type="http://schemas.openxmlformats.org/officeDocument/2006/relationships/image" Target="../media/image36.png"/><Relationship Id="rId6" Type="http://schemas.openxmlformats.org/officeDocument/2006/relationships/image" Target="../media/image46.png"/><Relationship Id="rId7" Type="http://schemas.openxmlformats.org/officeDocument/2006/relationships/image" Target="../media/image3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theconversation.com/how-do-fireworks-work-a-pyrotechnics-chemist-explains-the-science-behind-the-brilliant-colors-and-sounds-173576" TargetMode="External"/><Relationship Id="rId4" Type="http://schemas.openxmlformats.org/officeDocument/2006/relationships/hyperlink" Target="https://penntoday.upenn.edu/news/chemistry-behind-fireworks" TargetMode="External"/><Relationship Id="rId9" Type="http://schemas.openxmlformats.org/officeDocument/2006/relationships/image" Target="../media/image39.jpg"/><Relationship Id="rId5" Type="http://schemas.openxmlformats.org/officeDocument/2006/relationships/image" Target="../media/image44.png"/><Relationship Id="rId6" Type="http://schemas.openxmlformats.org/officeDocument/2006/relationships/hyperlink" Target="http://www.youtube.com/watch?v=rmtK2BgmGCw" TargetMode="External"/><Relationship Id="rId7" Type="http://schemas.openxmlformats.org/officeDocument/2006/relationships/image" Target="../media/image37.jpg"/><Relationship Id="rId8" Type="http://schemas.openxmlformats.org/officeDocument/2006/relationships/hyperlink" Target="http://www.youtube.com/watch?v=nPHegSulI_M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8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://en.wikipedia.org/wiki/D_electron_cou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z354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0"/>
            <a:ext cx="6858000" cy="513873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>
            <p:ph type="ctrTitle"/>
          </p:nvPr>
        </p:nvSpPr>
        <p:spPr>
          <a:xfrm>
            <a:off x="-342900" y="-102965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rgbClr val="000066"/>
                </a:solidFill>
              </a:rPr>
              <a:t>Electron Orbitals</a:t>
            </a:r>
            <a:endParaRPr sz="4000" u="sng">
              <a:solidFill>
                <a:srgbClr val="000066"/>
              </a:solidFill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867400" y="4857750"/>
            <a:ext cx="309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Cartoon courtesy of lab-initio.com</a:t>
            </a:r>
            <a:endParaRPr/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043" y="0"/>
            <a:ext cx="727791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rnest Rutherford's famous gold foil experiment involves the scattering of alpha particles as they pass through a thin gold foil. &#10; &#10;It led to a better understanding of the structure of atoms. &#10; &#10;It's also known as the Geiger--Marsden experiment, after Hans Geiger and Ernest Marsden who performed it under Rutherford's supervision. &#10; &#10;Particle physicist Bruce Kennedy explains wit this modern re-creation." id="118" name="Google Shape;118;p17" title="Rutherford Gold Foil Experiment - Backstage Scienc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835" y="344163"/>
            <a:ext cx="7920325" cy="44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Electron Levels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Electrons exist within a cloud surrounding the atomic nucleus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cloud consists of different energy levels, called orbitals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 few factors governing electron behavior: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negative charge of electrons are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attracted to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the positive charge of the protons in the nucleus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negative charge of electrons is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repulsed by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the negative charge of other electrons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Electrons are most stable when at the lowest energy state possible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685800" y="25146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The Bohr Model of the Atom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hr"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085850"/>
            <a:ext cx="1620441" cy="25717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6"/>
              </a:srgbClr>
            </a:outerShdw>
          </a:effectLst>
        </p:spPr>
      </p:pic>
      <p:sp>
        <p:nvSpPr>
          <p:cNvPr id="133" name="Google Shape;133;p19"/>
          <p:cNvSpPr txBox="1"/>
          <p:nvPr/>
        </p:nvSpPr>
        <p:spPr>
          <a:xfrm>
            <a:off x="457200" y="3829050"/>
            <a:ext cx="172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</a:rPr>
              <a:t>Neils Bohr</a:t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3048000" y="971550"/>
            <a:ext cx="5867400" cy="2971800"/>
          </a:xfrm>
          <a:prstGeom prst="wedgeRoundRectCallout">
            <a:avLst>
              <a:gd fmla="val -71278" name="adj1"/>
              <a:gd fmla="val 6331" name="adj2"/>
              <a:gd fmla="val 16667" name="adj3"/>
            </a:avLst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C0C0C"/>
                </a:solidFill>
                <a:latin typeface="Comic Sans MS"/>
                <a:ea typeface="Comic Sans MS"/>
                <a:cs typeface="Comic Sans MS"/>
                <a:sym typeface="Comic Sans MS"/>
              </a:rPr>
              <a:t>I pictured electrons orbiting the nucleus much like planets orbiting the sun.</a:t>
            </a:r>
            <a:endParaRPr sz="1000"/>
          </a:p>
        </p:txBody>
      </p:sp>
      <p:sp>
        <p:nvSpPr>
          <p:cNvPr id="135" name="Google Shape;135;p19"/>
          <p:cNvSpPr txBox="1"/>
          <p:nvPr/>
        </p:nvSpPr>
        <p:spPr>
          <a:xfrm>
            <a:off x="3200400" y="2686050"/>
            <a:ext cx="54864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C0C0C"/>
                </a:solidFill>
                <a:latin typeface="Comic Sans MS"/>
                <a:ea typeface="Comic Sans MS"/>
                <a:cs typeface="Comic Sans MS"/>
                <a:sym typeface="Comic Sans MS"/>
              </a:rPr>
              <a:t>But I was wrong! They’re more like bees around a hive.</a:t>
            </a:r>
            <a:endParaRPr sz="1000"/>
          </a:p>
        </p:txBody>
      </p:sp>
      <p:sp>
        <p:nvSpPr>
          <p:cNvPr id="136" name="Google Shape;136;p19"/>
          <p:cNvSpPr txBox="1"/>
          <p:nvPr/>
        </p:nvSpPr>
        <p:spPr>
          <a:xfrm>
            <a:off x="685800" y="4514850"/>
            <a:ext cx="8077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Bohr’s model worked well for the Hydrogen atom only</a:t>
            </a:r>
            <a:endParaRPr/>
          </a:p>
        </p:txBody>
      </p:sp>
      <p:sp>
        <p:nvSpPr>
          <p:cNvPr id="137" name="Google Shape;137;p19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3676" y="457200"/>
            <a:ext cx="5651600" cy="42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685800" y="-77724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Electron Energy Level (Shell)</a:t>
            </a:r>
            <a:endParaRPr/>
          </a:p>
        </p:txBody>
      </p:sp>
      <p:sp>
        <p:nvSpPr>
          <p:cNvPr id="152" name="Google Shape;152;p21"/>
          <p:cNvSpPr txBox="1"/>
          <p:nvPr/>
        </p:nvSpPr>
        <p:spPr>
          <a:xfrm>
            <a:off x="685800" y="685800"/>
            <a:ext cx="3962400" cy="26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C0C0C"/>
                </a:solidFill>
              </a:rPr>
              <a:t>Generally symbolized</a:t>
            </a:r>
            <a:r>
              <a:rPr b="1" lang="en-US" sz="2600">
                <a:solidFill>
                  <a:srgbClr val="0C0C0C"/>
                </a:solidFill>
              </a:rPr>
              <a:t> </a:t>
            </a:r>
            <a:r>
              <a:rPr b="1" i="0" lang="en-US" sz="2600" u="none" cap="none" strike="noStrike">
                <a:solidFill>
                  <a:srgbClr val="0C0C0C"/>
                </a:solidFill>
              </a:rPr>
              <a:t>by n, it denotes the</a:t>
            </a:r>
            <a:r>
              <a:rPr b="1" lang="en-US" sz="2600">
                <a:solidFill>
                  <a:srgbClr val="0C0C0C"/>
                </a:solidFill>
              </a:rPr>
              <a:t> p</a:t>
            </a:r>
            <a:r>
              <a:rPr b="1" i="0" lang="en-US" sz="2600" u="none" cap="none" strike="noStrike">
                <a:solidFill>
                  <a:srgbClr val="0C0C0C"/>
                </a:solidFill>
              </a:rPr>
              <a:t>robable distance of</a:t>
            </a:r>
            <a:r>
              <a:rPr b="1" lang="en-US" sz="2600">
                <a:solidFill>
                  <a:srgbClr val="0C0C0C"/>
                </a:solidFill>
              </a:rPr>
              <a:t> </a:t>
            </a:r>
            <a:r>
              <a:rPr b="1" i="0" lang="en-US" sz="2600" u="none" cap="none" strike="noStrike">
                <a:solidFill>
                  <a:srgbClr val="0C0C0C"/>
                </a:solidFill>
              </a:rPr>
              <a:t>the electron from the</a:t>
            </a:r>
            <a:r>
              <a:rPr b="1" lang="en-US" sz="2600">
                <a:solidFill>
                  <a:srgbClr val="0C0C0C"/>
                </a:solidFill>
              </a:rPr>
              <a:t> </a:t>
            </a:r>
            <a:r>
              <a:rPr b="1" i="0" lang="en-US" sz="2600" u="none" cap="none" strike="noStrike">
                <a:solidFill>
                  <a:srgbClr val="0C0C0C"/>
                </a:solidFill>
              </a:rPr>
              <a:t>nucleus. “n” is also</a:t>
            </a:r>
            <a:r>
              <a:rPr b="1" lang="en-US" sz="2600">
                <a:solidFill>
                  <a:srgbClr val="0C0C0C"/>
                </a:solidFill>
              </a:rPr>
              <a:t> </a:t>
            </a:r>
            <a:r>
              <a:rPr b="1" i="0" lang="en-US" sz="2600" u="none" cap="none" strike="noStrike">
                <a:solidFill>
                  <a:srgbClr val="0C0C0C"/>
                </a:solidFill>
              </a:rPr>
              <a:t>known as the </a:t>
            </a:r>
            <a:r>
              <a:rPr b="1" i="0" lang="en-US" sz="2600" u="none" cap="none" strike="noStrike">
                <a:solidFill>
                  <a:srgbClr val="006600"/>
                </a:solidFill>
              </a:rPr>
              <a:t>Princip</a:t>
            </a:r>
            <a:r>
              <a:rPr b="1" lang="en-US" sz="2600">
                <a:solidFill>
                  <a:srgbClr val="006600"/>
                </a:solidFill>
              </a:rPr>
              <a:t>al </a:t>
            </a:r>
            <a:r>
              <a:rPr b="1" i="0" lang="en-US" sz="2600" u="none" cap="none" strike="noStrike">
                <a:solidFill>
                  <a:srgbClr val="006600"/>
                </a:solidFill>
              </a:rPr>
              <a:t>Quantum number</a:t>
            </a:r>
            <a:endParaRPr sz="1200"/>
          </a:p>
        </p:txBody>
      </p:sp>
      <p:sp>
        <p:nvSpPr>
          <p:cNvPr id="153" name="Google Shape;153;p21"/>
          <p:cNvSpPr txBox="1"/>
          <p:nvPr/>
        </p:nvSpPr>
        <p:spPr>
          <a:xfrm>
            <a:off x="685800" y="3600450"/>
            <a:ext cx="3902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C0C0C"/>
                </a:solidFill>
              </a:rPr>
              <a:t>Number of electrons</a:t>
            </a:r>
            <a:r>
              <a:rPr b="1" lang="en-US" sz="2600">
                <a:solidFill>
                  <a:srgbClr val="0C0C0C"/>
                </a:solidFill>
              </a:rPr>
              <a:t> </a:t>
            </a:r>
            <a:r>
              <a:rPr b="1" i="0" lang="en-US" sz="2600" u="none" cap="none" strike="noStrike">
                <a:solidFill>
                  <a:srgbClr val="0C0C0C"/>
                </a:solidFill>
              </a:rPr>
              <a:t>that can fit in a shell:</a:t>
            </a:r>
            <a:endParaRPr sz="1200"/>
          </a:p>
        </p:txBody>
      </p:sp>
      <p:sp>
        <p:nvSpPr>
          <p:cNvPr id="154" name="Google Shape;154;p21"/>
          <p:cNvSpPr txBox="1"/>
          <p:nvPr/>
        </p:nvSpPr>
        <p:spPr>
          <a:xfrm>
            <a:off x="4492225" y="3934300"/>
            <a:ext cx="888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</a:rPr>
              <a:t>2n</a:t>
            </a:r>
            <a:r>
              <a:rPr b="1" baseline="30000" i="0" lang="en-US" sz="3600" u="none" cap="none" strike="noStrike">
                <a:solidFill>
                  <a:srgbClr val="C00000"/>
                </a:solidFill>
              </a:rPr>
              <a:t>2</a:t>
            </a:r>
            <a:endParaRPr/>
          </a:p>
        </p:txBody>
      </p:sp>
      <p:pic>
        <p:nvPicPr>
          <p:cNvPr descr="shells.gif" id="155" name="Google Shape;1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628650"/>
            <a:ext cx="3995738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900"/>
              <a:t>Level 1: 	2(1)</a:t>
            </a:r>
            <a:r>
              <a:rPr baseline="30000" lang="en-US" sz="1900"/>
              <a:t>2</a:t>
            </a:r>
            <a:r>
              <a:rPr lang="en-US" sz="1900"/>
              <a:t> = 2</a:t>
            </a:r>
            <a:endParaRPr sz="1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900"/>
              <a:t>Level 2:	</a:t>
            </a:r>
            <a:r>
              <a:rPr lang="en-US" sz="1900">
                <a:solidFill>
                  <a:schemeClr val="dk1"/>
                </a:solidFill>
              </a:rPr>
              <a:t>2(2)</a:t>
            </a:r>
            <a:r>
              <a:rPr baseline="30000" lang="en-US" sz="1900">
                <a:solidFill>
                  <a:schemeClr val="dk1"/>
                </a:solidFill>
              </a:rPr>
              <a:t>2</a:t>
            </a:r>
            <a:r>
              <a:rPr lang="en-US" sz="1900">
                <a:solidFill>
                  <a:schemeClr val="dk1"/>
                </a:solidFill>
              </a:rPr>
              <a:t> = 8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Level 3:	2(3)</a:t>
            </a:r>
            <a:r>
              <a:rPr baseline="30000" lang="en-US" sz="1900">
                <a:solidFill>
                  <a:schemeClr val="dk1"/>
                </a:solidFill>
              </a:rPr>
              <a:t>2</a:t>
            </a:r>
            <a:r>
              <a:rPr lang="en-US" sz="1900">
                <a:solidFill>
                  <a:schemeClr val="dk1"/>
                </a:solidFill>
              </a:rPr>
              <a:t> = 18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Level 4:	2(4)</a:t>
            </a:r>
            <a:r>
              <a:rPr baseline="30000" lang="en-US" sz="1900">
                <a:solidFill>
                  <a:schemeClr val="dk1"/>
                </a:solidFill>
              </a:rPr>
              <a:t>2</a:t>
            </a:r>
            <a:r>
              <a:rPr lang="en-US" sz="1900">
                <a:solidFill>
                  <a:schemeClr val="dk1"/>
                </a:solidFill>
              </a:rPr>
              <a:t> = 32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This really only works for the first 4 levels</a:t>
            </a:r>
            <a:endParaRPr sz="1900"/>
          </a:p>
        </p:txBody>
      </p:sp>
      <p:sp>
        <p:nvSpPr>
          <p:cNvPr id="163" name="Google Shape;163;p22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Electrons per Shell 2n</a:t>
            </a:r>
            <a:r>
              <a:rPr baseline="30000" lang="en-US"/>
              <a:t>2</a:t>
            </a:r>
            <a:endParaRPr/>
          </a:p>
        </p:txBody>
      </p:sp>
      <p:sp>
        <p:nvSpPr>
          <p:cNvPr id="164" name="Google Shape;164;p22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685800" y="-2286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Shells, Sub-Shells, and Orbitals</a:t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685800" y="100584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</a:rPr>
              <a:t>A ‘shell’ describes the energy level that an electron occupies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</a:rPr>
              <a:t>An ‘orbital’ describes the shape or location of </a:t>
            </a:r>
            <a:r>
              <a:rPr lang="en-US" sz="2100"/>
              <a:t>an </a:t>
            </a:r>
            <a:r>
              <a:rPr lang="en-US" sz="2100">
                <a:solidFill>
                  <a:srgbClr val="000000"/>
                </a:solidFill>
              </a:rPr>
              <a:t>electron in the space around the nucleus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</a:rPr>
              <a:t>A shell c</a:t>
            </a:r>
            <a:r>
              <a:rPr lang="en-US" sz="2100"/>
              <a:t>ontains sub-shells</a:t>
            </a:r>
            <a:endParaRPr sz="2100"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/>
              <a:t>S</a:t>
            </a:r>
            <a:r>
              <a:rPr lang="en-US" sz="2100"/>
              <a:t>ub-shell</a:t>
            </a:r>
            <a:r>
              <a:rPr lang="en-US" sz="2100"/>
              <a:t>s can be s, p, d, or f</a:t>
            </a:r>
            <a:endParaRPr sz="2100"/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/>
              <a:t>S</a:t>
            </a:r>
            <a:r>
              <a:rPr lang="en-US" sz="2100"/>
              <a:t>ub-shell</a:t>
            </a:r>
            <a:r>
              <a:rPr lang="en-US" sz="2100"/>
              <a:t>s contain </a:t>
            </a:r>
            <a:r>
              <a:rPr lang="en-US" sz="2100">
                <a:solidFill>
                  <a:srgbClr val="000000"/>
                </a:solidFill>
              </a:rPr>
              <a:t>orbitals</a:t>
            </a:r>
            <a:endParaRPr sz="2100">
              <a:solidFill>
                <a:srgbClr val="000000"/>
              </a:solidFill>
            </a:endParaRPr>
          </a:p>
          <a:p>
            <a:pPr indent="0" lvl="0" marL="142875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/>
              <a:t>an s </a:t>
            </a:r>
            <a:r>
              <a:rPr lang="en-US" sz="2100"/>
              <a:t>sub-shell</a:t>
            </a:r>
            <a:r>
              <a:rPr lang="en-US" sz="2100"/>
              <a:t> has 1 orbital, p has 3 orbitals, d has 5 orbitals, f has 7 orbitals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/>
              <a:t>An orbital can hold a maximum of 2 electrons</a:t>
            </a:r>
            <a:endParaRPr sz="2100"/>
          </a:p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/>
        </p:nvSpPr>
        <p:spPr>
          <a:xfrm flipH="1">
            <a:off x="685663" y="285750"/>
            <a:ext cx="4678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sng" cap="none" strike="noStrike">
                <a:solidFill>
                  <a:srgbClr val="0C0C0C"/>
                </a:solidFill>
              </a:rPr>
              <a:t>Electron Orbitals</a:t>
            </a:r>
            <a:endParaRPr b="1" i="0" sz="4000" u="sng" cap="none" strike="noStrike">
              <a:solidFill>
                <a:srgbClr val="0C0C0C"/>
              </a:solidFill>
            </a:endParaRPr>
          </a:p>
        </p:txBody>
      </p:sp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781812" y="1458468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C0C0C"/>
                </a:solidFill>
              </a:rPr>
              <a:t>An orbital is a region </a:t>
            </a:r>
            <a:r>
              <a:rPr b="1" lang="en-US" sz="2800">
                <a:solidFill>
                  <a:srgbClr val="0C0C0C"/>
                </a:solidFill>
              </a:rPr>
              <a:t>within</a:t>
            </a:r>
            <a:r>
              <a:rPr lang="en-US" sz="2800">
                <a:solidFill>
                  <a:srgbClr val="0C0C0C"/>
                </a:solidFill>
              </a:rPr>
              <a:t> an energy level where there is a probability of finding an electron. </a:t>
            </a:r>
            <a:endParaRPr sz="2800"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 u="sng">
                <a:solidFill>
                  <a:srgbClr val="0C0C0C"/>
                </a:solidFill>
              </a:rPr>
              <a:t>Orbital shapes</a:t>
            </a:r>
            <a:r>
              <a:rPr lang="en-US" sz="2800">
                <a:solidFill>
                  <a:srgbClr val="0C0C0C"/>
                </a:solidFill>
              </a:rPr>
              <a:t> are defined as the surface that contains </a:t>
            </a:r>
            <a:r>
              <a:rPr lang="en-US" sz="2800" u="sng">
                <a:solidFill>
                  <a:srgbClr val="0C0C0C"/>
                </a:solidFill>
              </a:rPr>
              <a:t>90%</a:t>
            </a:r>
            <a:r>
              <a:rPr lang="en-US" sz="2800">
                <a:solidFill>
                  <a:srgbClr val="0C0C0C"/>
                </a:solidFill>
              </a:rPr>
              <a:t> of the total electron probability.</a:t>
            </a:r>
            <a:endParaRPr sz="280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/>
        </p:nvSpPr>
        <p:spPr>
          <a:xfrm>
            <a:off x="457200" y="1211580"/>
            <a:ext cx="43104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0C0C0C"/>
                </a:solidFill>
              </a:rPr>
              <a:t>The </a:t>
            </a:r>
            <a:r>
              <a:rPr i="1" lang="en-US" sz="3200" u="none" cap="none" strike="noStrike">
                <a:solidFill>
                  <a:srgbClr val="0C0C0C"/>
                </a:solidFill>
              </a:rPr>
              <a:t>s</a:t>
            </a:r>
            <a:r>
              <a:rPr i="0" lang="en-US" sz="3200" u="none" cap="none" strike="noStrike">
                <a:solidFill>
                  <a:srgbClr val="0C0C0C"/>
                </a:solidFill>
              </a:rPr>
              <a:t> orbital has a spherical shape</a:t>
            </a:r>
            <a:r>
              <a:rPr lang="en-US" sz="3200">
                <a:solidFill>
                  <a:srgbClr val="0C0C0C"/>
                </a:solidFill>
              </a:rPr>
              <a:t> </a:t>
            </a:r>
            <a:r>
              <a:rPr i="0" lang="en-US" sz="3200" u="none" cap="none" strike="noStrike">
                <a:solidFill>
                  <a:srgbClr val="0C0C0C"/>
                </a:solidFill>
              </a:rPr>
              <a:t>centered around</a:t>
            </a:r>
            <a:r>
              <a:rPr lang="en-US"/>
              <a:t> </a:t>
            </a:r>
            <a:r>
              <a:rPr i="0" lang="en-US" sz="3200" u="none" cap="none" strike="noStrike">
                <a:solidFill>
                  <a:srgbClr val="0C0C0C"/>
                </a:solidFill>
              </a:rPr>
              <a:t>the origin of the three axes in space.</a:t>
            </a:r>
            <a:endParaRPr/>
          </a:p>
        </p:txBody>
      </p:sp>
      <p:sp>
        <p:nvSpPr>
          <p:cNvPr id="187" name="Google Shape;187;p25"/>
          <p:cNvSpPr txBox="1"/>
          <p:nvPr>
            <p:ph type="title"/>
          </p:nvPr>
        </p:nvSpPr>
        <p:spPr>
          <a:xfrm>
            <a:off x="685800" y="32004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Shape of the </a:t>
            </a:r>
            <a:r>
              <a:rPr lang="en-US">
                <a:solidFill>
                  <a:schemeClr val="dk1"/>
                </a:solidFill>
              </a:rPr>
              <a:t>orbital</a:t>
            </a:r>
            <a:r>
              <a:rPr lang="en-US">
                <a:solidFill>
                  <a:schemeClr val="dk1"/>
                </a:solidFill>
              </a:rPr>
              <a:t> in an </a:t>
            </a:r>
            <a:br>
              <a:rPr lang="en-US">
                <a:solidFill>
                  <a:schemeClr val="dk1"/>
                </a:solidFill>
              </a:rPr>
            </a:br>
            <a:r>
              <a:rPr i="1" lang="en-US">
                <a:solidFill>
                  <a:schemeClr val="dk1"/>
                </a:solidFill>
              </a:rPr>
              <a:t>s</a:t>
            </a:r>
            <a:r>
              <a:rPr lang="en-US">
                <a:solidFill>
                  <a:schemeClr val="dk1"/>
                </a:solidFill>
              </a:rPr>
              <a:t> sub-shell</a:t>
            </a:r>
            <a:endParaRPr/>
          </a:p>
        </p:txBody>
      </p:sp>
      <p:pic>
        <p:nvPicPr>
          <p:cNvPr descr="1s_orbital.gif" id="188" name="Google Shape;1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6400" y="1292180"/>
            <a:ext cx="3151585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/>
        </p:nvSpPr>
        <p:spPr>
          <a:xfrm>
            <a:off x="609600" y="2457450"/>
            <a:ext cx="7696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C0C0C"/>
                </a:solidFill>
              </a:rPr>
              <a:t>There are three dumbbell-shaped </a:t>
            </a:r>
            <a:r>
              <a:rPr b="1" i="1" lang="en-US" sz="2800" u="none" cap="none" strike="noStrike">
                <a:solidFill>
                  <a:srgbClr val="0C0C0C"/>
                </a:solidFill>
              </a:rPr>
              <a:t>p</a:t>
            </a:r>
            <a:r>
              <a:rPr b="1" lang="en-US" sz="2800">
                <a:solidFill>
                  <a:srgbClr val="0C0C0C"/>
                </a:solidFill>
              </a:rPr>
              <a:t> </a:t>
            </a:r>
            <a:r>
              <a:rPr b="1" i="0" lang="en-US" sz="2800" u="none" cap="none" strike="noStrike">
                <a:solidFill>
                  <a:srgbClr val="0C0C0C"/>
                </a:solidFill>
              </a:rPr>
              <a:t>orbitals in each energy level above n = 1,</a:t>
            </a:r>
            <a:r>
              <a:rPr b="1" lang="en-US" sz="2800">
                <a:solidFill>
                  <a:srgbClr val="0C0C0C"/>
                </a:solidFill>
              </a:rPr>
              <a:t> </a:t>
            </a:r>
            <a:r>
              <a:rPr b="1" i="0" lang="en-US" sz="2800" u="none" cap="none" strike="noStrike">
                <a:solidFill>
                  <a:srgbClr val="0C0C0C"/>
                </a:solidFill>
              </a:rPr>
              <a:t>each assigned to its own axis (x, y and z)</a:t>
            </a:r>
            <a:r>
              <a:rPr b="1" lang="en-US" sz="2800">
                <a:solidFill>
                  <a:srgbClr val="0C0C0C"/>
                </a:solidFill>
              </a:rPr>
              <a:t> </a:t>
            </a:r>
            <a:r>
              <a:rPr b="1" i="0" lang="en-US" sz="2800" u="none" cap="none" strike="noStrike">
                <a:solidFill>
                  <a:srgbClr val="0C0C0C"/>
                </a:solidFill>
              </a:rPr>
              <a:t>in space.</a:t>
            </a:r>
            <a:endParaRPr/>
          </a:p>
        </p:txBody>
      </p:sp>
      <p:sp>
        <p:nvSpPr>
          <p:cNvPr id="196" name="Google Shape;196;p26"/>
          <p:cNvSpPr txBox="1"/>
          <p:nvPr>
            <p:ph type="title"/>
          </p:nvPr>
        </p:nvSpPr>
        <p:spPr>
          <a:xfrm>
            <a:off x="685800" y="1143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Shape of orbitals in a</a:t>
            </a:r>
            <a:endParaRPr>
              <a:solidFill>
                <a:srgbClr val="0C0C0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C0C0C"/>
                </a:solidFill>
              </a:rPr>
              <a:t>p</a:t>
            </a:r>
            <a:r>
              <a:rPr lang="en-US">
                <a:solidFill>
                  <a:srgbClr val="0C0C0C"/>
                </a:solidFill>
              </a:rPr>
              <a:t> sub-shell</a:t>
            </a:r>
            <a:endParaRPr/>
          </a:p>
        </p:txBody>
      </p:sp>
      <p:pic>
        <p:nvPicPr>
          <p:cNvPr descr="p_orbitals.gif" id="197" name="Google Shape;1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8850" y="817449"/>
            <a:ext cx="4686300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/>
        </p:nvSpPr>
        <p:spPr>
          <a:xfrm>
            <a:off x="4724400" y="342900"/>
            <a:ext cx="4267200" cy="48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C0C0C"/>
                </a:solidFill>
              </a:rPr>
              <a:t>Things get a bit more</a:t>
            </a:r>
            <a:r>
              <a:rPr lang="en-US" sz="2500">
                <a:solidFill>
                  <a:srgbClr val="0C0C0C"/>
                </a:solidFill>
              </a:rPr>
              <a:t> </a:t>
            </a:r>
            <a:r>
              <a:rPr i="0" lang="en-US" sz="2500" u="none" cap="none" strike="noStrike">
                <a:solidFill>
                  <a:srgbClr val="0C0C0C"/>
                </a:solidFill>
              </a:rPr>
              <a:t>complicated with the five</a:t>
            </a:r>
            <a:r>
              <a:rPr lang="en-US" sz="2500">
                <a:solidFill>
                  <a:srgbClr val="0C0C0C"/>
                </a:solidFill>
              </a:rPr>
              <a:t> </a:t>
            </a:r>
            <a:r>
              <a:rPr i="1" lang="en-US" sz="2500" u="none" cap="none" strike="noStrike">
                <a:solidFill>
                  <a:srgbClr val="0C0C0C"/>
                </a:solidFill>
              </a:rPr>
              <a:t>d </a:t>
            </a:r>
            <a:r>
              <a:rPr i="0" lang="en-US" sz="2500" u="none" cap="none" strike="noStrike">
                <a:solidFill>
                  <a:srgbClr val="0C0C0C"/>
                </a:solidFill>
              </a:rPr>
              <a:t>orbitals that are found</a:t>
            </a:r>
            <a:r>
              <a:rPr lang="en-US" sz="2500">
                <a:solidFill>
                  <a:srgbClr val="0C0C0C"/>
                </a:solidFill>
              </a:rPr>
              <a:t> </a:t>
            </a:r>
            <a:r>
              <a:rPr i="0" lang="en-US" sz="2500" u="none" cap="none" strike="noStrike">
                <a:solidFill>
                  <a:srgbClr val="0C0C0C"/>
                </a:solidFill>
              </a:rPr>
              <a:t>in the </a:t>
            </a:r>
            <a:r>
              <a:rPr i="1" lang="en-US" sz="2500" u="none" cap="none" strike="noStrike">
                <a:solidFill>
                  <a:srgbClr val="0C0C0C"/>
                </a:solidFill>
              </a:rPr>
              <a:t>d</a:t>
            </a:r>
            <a:r>
              <a:rPr i="0" lang="en-US" sz="2500" u="none" cap="none" strike="noStrike">
                <a:solidFill>
                  <a:srgbClr val="0C0C0C"/>
                </a:solidFill>
              </a:rPr>
              <a:t> sublevels</a:t>
            </a:r>
            <a:r>
              <a:rPr lang="en-US" sz="2500">
                <a:solidFill>
                  <a:srgbClr val="0C0C0C"/>
                </a:solidFill>
              </a:rPr>
              <a:t> </a:t>
            </a:r>
            <a:r>
              <a:rPr i="0" lang="en-US" sz="2500" u="none" cap="none" strike="noStrike">
                <a:solidFill>
                  <a:srgbClr val="0C0C0C"/>
                </a:solidFill>
              </a:rPr>
              <a:t>beginning with n = 3. </a:t>
            </a:r>
            <a:endParaRPr i="0" sz="2500" u="none" cap="none" strike="noStrike">
              <a:solidFill>
                <a:srgbClr val="0C0C0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500" u="none" cap="none" strike="noStrike">
              <a:solidFill>
                <a:srgbClr val="0C0C0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C0C0C"/>
                </a:solidFill>
              </a:rPr>
              <a:t>To remember the shapes,</a:t>
            </a:r>
            <a:r>
              <a:rPr lang="en-US" sz="2500">
                <a:solidFill>
                  <a:srgbClr val="0C0C0C"/>
                </a:solidFill>
              </a:rPr>
              <a:t> </a:t>
            </a:r>
            <a:r>
              <a:rPr i="0" lang="en-US" sz="2500" u="none" cap="none" strike="noStrike">
                <a:solidFill>
                  <a:srgbClr val="0C0C0C"/>
                </a:solidFill>
              </a:rPr>
              <a:t>think of “</a:t>
            </a:r>
            <a:r>
              <a:rPr i="0" lang="en-US" sz="2500" u="sng" cap="none" strike="noStrike">
                <a:solidFill>
                  <a:srgbClr val="0C0C0C"/>
                </a:solidFill>
              </a:rPr>
              <a:t>d</a:t>
            </a:r>
            <a:r>
              <a:rPr i="0" lang="en-US" sz="2500" u="none" cap="none" strike="noStrike">
                <a:solidFill>
                  <a:srgbClr val="0C0C0C"/>
                </a:solidFill>
              </a:rPr>
              <a:t>ouble</a:t>
            </a:r>
            <a:r>
              <a:rPr lang="en-US" sz="2500">
                <a:solidFill>
                  <a:srgbClr val="0C0C0C"/>
                </a:solidFill>
              </a:rPr>
              <a:t> </a:t>
            </a:r>
            <a:r>
              <a:rPr lang="en-US" sz="2500" u="sng">
                <a:solidFill>
                  <a:srgbClr val="0C0C0C"/>
                </a:solidFill>
              </a:rPr>
              <a:t>dumbbells</a:t>
            </a:r>
            <a:r>
              <a:rPr i="0" lang="en-US" sz="2500" u="none" cap="none" strike="noStrike">
                <a:solidFill>
                  <a:srgbClr val="0C0C0C"/>
                </a:solidFill>
              </a:rPr>
              <a:t>” . . 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500" u="none" cap="none" strike="noStrike">
              <a:solidFill>
                <a:srgbClr val="0C0C0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0C0C0C"/>
                </a:solidFill>
              </a:rPr>
              <a:t>...and a “</a:t>
            </a:r>
            <a:r>
              <a:rPr i="0" lang="en-US" sz="2500" u="sng" cap="none" strike="noStrike">
                <a:solidFill>
                  <a:srgbClr val="0C0C0C"/>
                </a:solidFill>
              </a:rPr>
              <a:t>d</a:t>
            </a:r>
            <a:r>
              <a:rPr i="0" lang="en-US" sz="2500" u="none" cap="none" strike="noStrike">
                <a:solidFill>
                  <a:srgbClr val="0C0C0C"/>
                </a:solidFill>
              </a:rPr>
              <a:t>umbbel</a:t>
            </a:r>
            <a:r>
              <a:rPr lang="en-US" sz="2500">
                <a:solidFill>
                  <a:srgbClr val="0C0C0C"/>
                </a:solidFill>
              </a:rPr>
              <a:t>l </a:t>
            </a:r>
            <a:r>
              <a:rPr i="0" lang="en-US" sz="2500" u="none" cap="none" strike="noStrike">
                <a:solidFill>
                  <a:srgbClr val="0C0C0C"/>
                </a:solidFill>
              </a:rPr>
              <a:t>with a </a:t>
            </a:r>
            <a:r>
              <a:rPr i="0" lang="en-US" sz="2500" u="sng" cap="none" strike="noStrike">
                <a:solidFill>
                  <a:srgbClr val="0C0C0C"/>
                </a:solidFill>
              </a:rPr>
              <a:t>d</a:t>
            </a:r>
            <a:r>
              <a:rPr i="0" lang="en-US" sz="2500" u="none" cap="none" strike="noStrike">
                <a:solidFill>
                  <a:srgbClr val="0C0C0C"/>
                </a:solidFill>
              </a:rPr>
              <a:t>onut”!</a:t>
            </a:r>
            <a:endParaRPr i="0" sz="2100" u="none" cap="none" strike="noStrike">
              <a:solidFill>
                <a:schemeClr val="lt1"/>
              </a:solidFill>
            </a:endParaRPr>
          </a:p>
        </p:txBody>
      </p:sp>
      <p:sp>
        <p:nvSpPr>
          <p:cNvPr id="206" name="Google Shape;206;p27"/>
          <p:cNvSpPr txBox="1"/>
          <p:nvPr>
            <p:ph type="title"/>
          </p:nvPr>
        </p:nvSpPr>
        <p:spPr>
          <a:xfrm>
            <a:off x="-420636" y="73162"/>
            <a:ext cx="6149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C0C0C"/>
                </a:solidFill>
              </a:rPr>
              <a:t>Orbitals in the </a:t>
            </a:r>
            <a:br>
              <a:rPr lang="en-US" sz="4000">
                <a:solidFill>
                  <a:srgbClr val="0C0C0C"/>
                </a:solidFill>
              </a:rPr>
            </a:br>
            <a:r>
              <a:rPr i="1" lang="en-US" sz="4000">
                <a:solidFill>
                  <a:srgbClr val="0C0C0C"/>
                </a:solidFill>
              </a:rPr>
              <a:t>d</a:t>
            </a:r>
            <a:r>
              <a:rPr lang="en-US" sz="4000">
                <a:solidFill>
                  <a:srgbClr val="0C0C0C"/>
                </a:solidFill>
              </a:rPr>
              <a:t> sub-shell</a:t>
            </a:r>
            <a:endParaRPr/>
          </a:p>
        </p:txBody>
      </p:sp>
      <p:pic>
        <p:nvPicPr>
          <p:cNvPr descr="d_orbitals.gif" id="207" name="Google Shape;2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800100"/>
            <a:ext cx="3328919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685800" y="32004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C0C0C"/>
                </a:solidFill>
              </a:rPr>
              <a:t>Orbitals in the </a:t>
            </a:r>
            <a:r>
              <a:rPr i="1" lang="en-US" sz="3200">
                <a:solidFill>
                  <a:srgbClr val="0C0C0C"/>
                </a:solidFill>
              </a:rPr>
              <a:t>f</a:t>
            </a:r>
            <a:r>
              <a:rPr lang="en-US" sz="3200">
                <a:solidFill>
                  <a:srgbClr val="0C0C0C"/>
                </a:solidFill>
              </a:rPr>
              <a:t> sub-shell</a:t>
            </a:r>
            <a:endParaRPr sz="3200">
              <a:solidFill>
                <a:srgbClr val="0C0C0C"/>
              </a:solidFill>
            </a:endParaRPr>
          </a:p>
        </p:txBody>
      </p:sp>
      <p:pic>
        <p:nvPicPr>
          <p:cNvPr descr="f_orbitals.gif" id="215" name="Google Shape;21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7350" y="728650"/>
            <a:ext cx="5729288" cy="430053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" name="Google Shape;222;p29"/>
          <p:cNvGraphicFramePr/>
          <p:nvPr/>
        </p:nvGraphicFramePr>
        <p:xfrm>
          <a:off x="457200" y="85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{9BE92DA1-1416-4A9D-8824-CFE182A58F91}</a:tableStyleId>
              </a:tblPr>
              <a:tblGrid>
                <a:gridCol w="1058575"/>
                <a:gridCol w="1872875"/>
                <a:gridCol w="1964475"/>
                <a:gridCol w="1660825"/>
                <a:gridCol w="1749025"/>
              </a:tblGrid>
              <a:tr h="946450"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Energy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Level 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(</a:t>
                      </a:r>
                      <a:r>
                        <a:rPr b="1" i="1" lang="en-US" sz="1400" u="none" cap="none" strike="noStrike">
                          <a:solidFill>
                            <a:srgbClr val="0C0C0C"/>
                          </a:solidFill>
                        </a:rPr>
                        <a:t>n</a:t>
                      </a: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)</a:t>
                      </a:r>
                      <a:endParaRPr b="1" i="0" sz="1400" u="none" cap="none" strike="noStrike">
                        <a:solidFill>
                          <a:srgbClr val="0C0C0C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lang="en-US">
                          <a:solidFill>
                            <a:srgbClr val="0C0C0C"/>
                          </a:solidFill>
                        </a:rPr>
                        <a:t>Sub-shells found </a:t>
                      </a:r>
                      <a:br>
                        <a:rPr b="1" lang="en-US">
                          <a:solidFill>
                            <a:srgbClr val="0C0C0C"/>
                          </a:solidFill>
                        </a:rPr>
                      </a:br>
                      <a:r>
                        <a:rPr b="1" lang="en-US">
                          <a:solidFill>
                            <a:srgbClr val="0C0C0C"/>
                          </a:solidFill>
                        </a:rPr>
                        <a:t>in energy level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C0C0C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Number of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orbitals </a:t>
                      </a:r>
                      <a:r>
                        <a:rPr b="1" lang="en-US">
                          <a:solidFill>
                            <a:srgbClr val="0C0C0C"/>
                          </a:solidFill>
                        </a:rPr>
                        <a:t>by sub-shell</a:t>
                      </a:r>
                      <a:endParaRPr b="1" i="0" sz="1400" u="none" cap="none" strike="noStrike">
                        <a:solidFill>
                          <a:srgbClr val="0C0C0C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lang="en-US">
                          <a:solidFill>
                            <a:srgbClr val="0C0C0C"/>
                          </a:solidFill>
                        </a:rPr>
                        <a:t>Maximum</a:t>
                      </a:r>
                      <a:endParaRPr b="1">
                        <a:solidFill>
                          <a:srgbClr val="0C0C0C"/>
                        </a:solidFill>
                      </a:endParaRPr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Number of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Electrons</a:t>
                      </a:r>
                      <a:endParaRPr sz="1100"/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lang="en-US">
                          <a:solidFill>
                            <a:srgbClr val="0C0C0C"/>
                          </a:solidFill>
                        </a:rPr>
                        <a:t>Max </a:t>
                      </a: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Number of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electrons per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Energy level (2</a:t>
                      </a:r>
                      <a:r>
                        <a:rPr b="1" i="1" lang="en-US" sz="1400" u="none" cap="none" strike="noStrike">
                          <a:solidFill>
                            <a:srgbClr val="0C0C0C"/>
                          </a:solidFill>
                        </a:rPr>
                        <a:t>n</a:t>
                      </a:r>
                      <a:r>
                        <a:rPr b="1" baseline="30000" i="0" lang="en-US" sz="1400" u="none" cap="none" strike="noStrike">
                          <a:solidFill>
                            <a:srgbClr val="0C0C0C"/>
                          </a:solidFill>
                        </a:rPr>
                        <a:t>2</a:t>
                      </a:r>
                      <a:r>
                        <a:rPr b="1" i="0" lang="en-US" sz="1400" u="none" cap="none" strike="noStrike">
                          <a:solidFill>
                            <a:srgbClr val="0C0C0C"/>
                          </a:solidFill>
                        </a:rPr>
                        <a:t>)</a:t>
                      </a:r>
                      <a:endParaRPr b="1" i="0" sz="1400" u="none" cap="none" strike="noStrike">
                        <a:solidFill>
                          <a:srgbClr val="0C0C0C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</a:tr>
              <a:tr h="300700"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1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s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1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2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2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</a:tr>
              <a:tr h="496875"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2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s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p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1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3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2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6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8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</a:tr>
              <a:tr h="709825"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3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s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p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d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1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3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5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2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6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10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18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</a:tr>
              <a:tr h="922775"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4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s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p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d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f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1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3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5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7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2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6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10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14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8A"/>
                        </a:buClr>
                        <a:buSzPts val="1400"/>
                        <a:buFont typeface="Comic Sans M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1218A"/>
                          </a:solidFill>
                        </a:rPr>
                        <a:t>32</a:t>
                      </a:r>
                      <a:endParaRPr b="1" i="0" sz="1400" u="none" cap="none" strike="noStrike">
                        <a:solidFill>
                          <a:srgbClr val="21218A"/>
                        </a:solidFill>
                      </a:endParaRPr>
                    </a:p>
                  </a:txBody>
                  <a:tcPr marT="34300" marB="34300" marR="91450" marL="91450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29"/>
          <p:cNvSpPr txBox="1"/>
          <p:nvPr>
            <p:ph type="title"/>
          </p:nvPr>
        </p:nvSpPr>
        <p:spPr>
          <a:xfrm>
            <a:off x="5334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Energy Levels, Orbitals, Electrons</a:t>
            </a:r>
            <a:endParaRPr/>
          </a:p>
        </p:txBody>
      </p:sp>
      <p:sp>
        <p:nvSpPr>
          <p:cNvPr id="224" name="Google Shape;224;p29"/>
          <p:cNvSpPr/>
          <p:nvPr/>
        </p:nvSpPr>
        <p:spPr>
          <a:xfrm>
            <a:off x="1644425" y="1828800"/>
            <a:ext cx="1632300" cy="216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3518597" y="1828800"/>
            <a:ext cx="1739400" cy="216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1447800" y="2971800"/>
            <a:ext cx="1828800" cy="346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1644425" y="2130132"/>
            <a:ext cx="1632300" cy="441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5425950" y="1828800"/>
            <a:ext cx="1508400" cy="216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7132625" y="1828800"/>
            <a:ext cx="1554300" cy="216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3503500" y="2130131"/>
            <a:ext cx="1739400" cy="441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5410075" y="2130131"/>
            <a:ext cx="1508400" cy="441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7132625" y="2130131"/>
            <a:ext cx="1554300" cy="441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1644425" y="2658864"/>
            <a:ext cx="1632300" cy="573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3488262" y="2658863"/>
            <a:ext cx="1754400" cy="573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5410200" y="2658863"/>
            <a:ext cx="1554300" cy="573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7132250" y="2658863"/>
            <a:ext cx="1554300" cy="573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1644425" y="3377608"/>
            <a:ext cx="1632300" cy="770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3503500" y="3377606"/>
            <a:ext cx="1739400" cy="771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5410200" y="3377606"/>
            <a:ext cx="1508400" cy="771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7132550" y="3377606"/>
            <a:ext cx="1554300" cy="771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685800" y="210312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Blocks on the Periodic Table</a:t>
            </a:r>
            <a:endParaRPr/>
          </a:p>
        </p:txBody>
      </p:sp>
      <p:pic>
        <p:nvPicPr>
          <p:cNvPr descr="File:Periodic Table 2.svg" id="247" name="Google Shape;247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5213" y="942125"/>
            <a:ext cx="5693569" cy="377904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0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0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www.chem4kids.com/files/art/elem_pertable2.gif" id="254" name="Google Shape;25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541" y="402336"/>
            <a:ext cx="49149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1"/>
          <p:cNvSpPr txBox="1"/>
          <p:nvPr>
            <p:ph idx="1" type="body"/>
          </p:nvPr>
        </p:nvSpPr>
        <p:spPr>
          <a:xfrm>
            <a:off x="685800" y="3945625"/>
            <a:ext cx="7772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Elements of the same period have the same number of electron shells</a:t>
            </a:r>
            <a:endParaRPr/>
          </a:p>
        </p:txBody>
      </p:sp>
      <p:sp>
        <p:nvSpPr>
          <p:cNvPr id="256" name="Google Shape;256;p31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le:Niels Bohr.jpg" id="262" name="Google Shape;262;p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714500"/>
            <a:ext cx="20002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belpauli1" id="263" name="Google Shape;26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9800" y="2343150"/>
            <a:ext cx="1858566" cy="26289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6"/>
              </a:srgbClr>
            </a:outerShdw>
          </a:effectLst>
        </p:spPr>
      </p:pic>
      <p:sp>
        <p:nvSpPr>
          <p:cNvPr id="264" name="Google Shape;264;p32"/>
          <p:cNvSpPr txBox="1"/>
          <p:nvPr>
            <p:ph type="title"/>
          </p:nvPr>
        </p:nvSpPr>
        <p:spPr>
          <a:xfrm>
            <a:off x="685800" y="141732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Aufbau Principle</a:t>
            </a:r>
            <a:endParaRPr>
              <a:solidFill>
                <a:srgbClr val="0C0C0C"/>
              </a:solidFill>
            </a:endParaRPr>
          </a:p>
        </p:txBody>
      </p:sp>
      <p:sp>
        <p:nvSpPr>
          <p:cNvPr id="265" name="Google Shape;265;p32"/>
          <p:cNvSpPr/>
          <p:nvPr/>
        </p:nvSpPr>
        <p:spPr>
          <a:xfrm>
            <a:off x="685800" y="46291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</a:rPr>
              <a:t>Niels Bohr</a:t>
            </a:r>
            <a:endParaRPr/>
          </a:p>
        </p:txBody>
      </p:sp>
      <p:sp>
        <p:nvSpPr>
          <p:cNvPr id="266" name="Google Shape;266;p32"/>
          <p:cNvSpPr/>
          <p:nvPr/>
        </p:nvSpPr>
        <p:spPr>
          <a:xfrm>
            <a:off x="4044696" y="4373118"/>
            <a:ext cx="19050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</a:rPr>
              <a:t>Wolfgang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</a:rPr>
              <a:t>Pauli</a:t>
            </a:r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3581400" y="914400"/>
            <a:ext cx="45720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C0C0C"/>
                </a:solidFill>
              </a:rPr>
              <a:t>Electrons will fill the orbitals with the lowest energy first</a:t>
            </a:r>
            <a:endParaRPr/>
          </a:p>
        </p:txBody>
      </p:sp>
      <p:sp>
        <p:nvSpPr>
          <p:cNvPr id="268" name="Google Shape;268;p32"/>
          <p:cNvSpPr/>
          <p:nvPr/>
        </p:nvSpPr>
        <p:spPr>
          <a:xfrm>
            <a:off x="3352800" y="2228850"/>
            <a:ext cx="2286000" cy="628500"/>
          </a:xfrm>
          <a:prstGeom prst="wedgeRoundRectCallout">
            <a:avLst>
              <a:gd fmla="val 86493" name="adj1"/>
              <a:gd fmla="val 195800" name="adj2"/>
              <a:gd fmla="val 16667" name="adj3"/>
            </a:avLst>
          </a:pr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tl" dir="2700000" dist="38100">
              <a:srgbClr val="000000">
                <a:alpha val="3960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9" name="Google Shape;269;p32"/>
          <p:cNvSpPr/>
          <p:nvPr/>
        </p:nvSpPr>
        <p:spPr>
          <a:xfrm flipH="1" rot="10800000">
            <a:off x="3352800" y="2229000"/>
            <a:ext cx="2286000" cy="628500"/>
          </a:xfrm>
          <a:prstGeom prst="wedgeRoundRectCallout">
            <a:avLst>
              <a:gd fmla="val -75649" name="adj1"/>
              <a:gd fmla="val -99622" name="adj2"/>
              <a:gd fmla="val 16667" name="adj3"/>
            </a:avLst>
          </a:pr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tl" dir="2700000" dist="38100">
              <a:srgbClr val="000000">
                <a:alpha val="3960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2"/>
          <p:cNvSpPr txBox="1"/>
          <p:nvPr/>
        </p:nvSpPr>
        <p:spPr>
          <a:xfrm flipH="1">
            <a:off x="3393783" y="2259538"/>
            <a:ext cx="22041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3505200" y="2400300"/>
            <a:ext cx="2209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Agree !!!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2" name="Google Shape;272;p32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3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738" y="425053"/>
            <a:ext cx="6007894" cy="429339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Aufbau and Madelung</a:t>
            </a:r>
            <a:endParaRPr/>
          </a:p>
        </p:txBody>
      </p:sp>
      <p:sp>
        <p:nvSpPr>
          <p:cNvPr id="288" name="Google Shape;288;p34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9" name="Google Shape;289;p3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147" y="1314599"/>
            <a:ext cx="4763102" cy="340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4"/>
          <p:cNvSpPr txBox="1"/>
          <p:nvPr>
            <p:ph idx="1" type="body"/>
          </p:nvPr>
        </p:nvSpPr>
        <p:spPr>
          <a:xfrm>
            <a:off x="5101250" y="1485900"/>
            <a:ext cx="33570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How can you remember which </a:t>
            </a:r>
            <a:r>
              <a:rPr lang="en-US"/>
              <a:t>sub-shell</a:t>
            </a:r>
            <a:r>
              <a:rPr lang="en-US"/>
              <a:t> has the lowest energy?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Madelung Rule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7" name="Google Shape;297;p3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7750" y="-19900"/>
            <a:ext cx="5246250" cy="47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/>
          <p:nvPr/>
        </p:nvSpPr>
        <p:spPr>
          <a:xfrm>
            <a:off x="87086" y="3458936"/>
            <a:ext cx="39255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1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ℓ</a:t>
            </a:r>
            <a:r>
              <a:rPr b="0" i="0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 the azimuthal quantum number; the values </a:t>
            </a:r>
            <a:r>
              <a:rPr b="0" i="1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ℓ</a:t>
            </a:r>
            <a:r>
              <a:rPr b="0" i="0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 = 0, 1, 2, 3 correspond to the </a:t>
            </a:r>
            <a:r>
              <a:rPr b="0" i="1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1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1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, and </a:t>
            </a:r>
            <a:r>
              <a:rPr b="0" i="1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22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 labels, respectively</a:t>
            </a:r>
            <a:endParaRPr b="1" sz="22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5"/>
          <p:cNvSpPr txBox="1"/>
          <p:nvPr/>
        </p:nvSpPr>
        <p:spPr>
          <a:xfrm>
            <a:off x="199275" y="182882"/>
            <a:ext cx="35850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This is the order in which orbitals are arranged by increasing energy according to the Madelung rule.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Mr. Hardt tries to explain the pattern…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idx="1" type="body"/>
          </p:nvPr>
        </p:nvSpPr>
        <p:spPr>
          <a:xfrm>
            <a:off x="685800" y="720875"/>
            <a:ext cx="7772400" cy="385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 s → n = 1, l = 0; n+l = 1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 s </a:t>
            </a:r>
            <a:r>
              <a:rPr lang="en-US">
                <a:solidFill>
                  <a:schemeClr val="dk1"/>
                </a:solidFill>
              </a:rPr>
              <a:t>→ n = 2, l = 0; n+l = 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685800" y="1622257"/>
            <a:ext cx="8458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2 p → n = 2, l = 1; n+l = 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3 s → n = 3, l = 0; n+l = 3</a:t>
            </a:r>
            <a:endParaRPr/>
          </a:p>
        </p:txBody>
      </p:sp>
      <p:sp>
        <p:nvSpPr>
          <p:cNvPr id="307" name="Google Shape;307;p36"/>
          <p:cNvSpPr txBox="1"/>
          <p:nvPr/>
        </p:nvSpPr>
        <p:spPr>
          <a:xfrm>
            <a:off x="685800" y="2499814"/>
            <a:ext cx="8641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3 p → n = 3, l = 1; n+l = 4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4 s → n = 4, l = 0; n+l = 4</a:t>
            </a:r>
            <a:endParaRPr/>
          </a:p>
        </p:txBody>
      </p:sp>
      <p:sp>
        <p:nvSpPr>
          <p:cNvPr id="308" name="Google Shape;308;p36"/>
          <p:cNvSpPr txBox="1"/>
          <p:nvPr/>
        </p:nvSpPr>
        <p:spPr>
          <a:xfrm>
            <a:off x="685800" y="3466814"/>
            <a:ext cx="6626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3 d → n = 3, l = 2; n+l = 5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4 p → n = 4, l = 1; n+l = 5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5 s → n = 5, l = 0; n+l = 5			</a:t>
            </a:r>
            <a:endParaRPr/>
          </a:p>
        </p:txBody>
      </p:sp>
      <p:sp>
        <p:nvSpPr>
          <p:cNvPr id="309" name="Google Shape;309;p36"/>
          <p:cNvSpPr txBox="1"/>
          <p:nvPr>
            <p:ph type="title"/>
          </p:nvPr>
        </p:nvSpPr>
        <p:spPr>
          <a:xfrm>
            <a:off x="685800" y="-21771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More Madelung</a:t>
            </a:r>
            <a:endParaRPr/>
          </a:p>
        </p:txBody>
      </p:sp>
      <p:sp>
        <p:nvSpPr>
          <p:cNvPr id="310" name="Google Shape;310;p36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11" name="Google Shape;311;p36"/>
          <p:cNvGrpSpPr/>
          <p:nvPr/>
        </p:nvGrpSpPr>
        <p:grpSpPr>
          <a:xfrm>
            <a:off x="4309750" y="1712983"/>
            <a:ext cx="3855275" cy="831300"/>
            <a:chOff x="4309750" y="2377011"/>
            <a:chExt cx="3855275" cy="831300"/>
          </a:xfrm>
        </p:grpSpPr>
        <p:grpSp>
          <p:nvGrpSpPr>
            <p:cNvPr id="312" name="Google Shape;312;p36"/>
            <p:cNvGrpSpPr/>
            <p:nvPr/>
          </p:nvGrpSpPr>
          <p:grpSpPr>
            <a:xfrm>
              <a:off x="4309750" y="2403625"/>
              <a:ext cx="3747900" cy="792600"/>
              <a:chOff x="4309750" y="2403625"/>
              <a:chExt cx="3747900" cy="792600"/>
            </a:xfrm>
          </p:grpSpPr>
          <p:sp>
            <p:nvSpPr>
              <p:cNvPr id="313" name="Google Shape;313;p36"/>
              <p:cNvSpPr/>
              <p:nvPr/>
            </p:nvSpPr>
            <p:spPr>
              <a:xfrm flipH="1" rot="5400000">
                <a:off x="4135600" y="2577775"/>
                <a:ext cx="792600" cy="444300"/>
              </a:xfrm>
              <a:prstGeom prst="trapezoid">
                <a:avLst>
                  <a:gd fmla="val 25000" name="adj"/>
                </a:avLst>
              </a:prstGeom>
              <a:solidFill>
                <a:srgbClr val="6FA8D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36"/>
              <p:cNvSpPr/>
              <p:nvPr/>
            </p:nvSpPr>
            <p:spPr>
              <a:xfrm>
                <a:off x="4754050" y="2511325"/>
                <a:ext cx="3303600" cy="577500"/>
              </a:xfrm>
              <a:prstGeom prst="rect">
                <a:avLst/>
              </a:prstGeom>
              <a:solidFill>
                <a:srgbClr val="6FA8D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5" name="Google Shape;315;p36"/>
            <p:cNvSpPr txBox="1"/>
            <p:nvPr/>
          </p:nvSpPr>
          <p:spPr>
            <a:xfrm>
              <a:off x="4700325" y="2377011"/>
              <a:ext cx="34647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Comic Sans MS"/>
                  <a:ea typeface="Comic Sans MS"/>
                  <a:cs typeface="Comic Sans MS"/>
                  <a:sym typeface="Comic Sans MS"/>
                </a:rPr>
                <a:t>When 2 </a:t>
              </a:r>
              <a:r>
                <a:rPr lang="en-US">
                  <a:latin typeface="Comic Sans MS"/>
                  <a:ea typeface="Comic Sans MS"/>
                  <a:cs typeface="Comic Sans MS"/>
                  <a:sym typeface="Comic Sans MS"/>
                </a:rPr>
                <a:t>sub-shell</a:t>
              </a:r>
              <a:r>
                <a:rPr lang="en-US">
                  <a:latin typeface="Comic Sans MS"/>
                  <a:ea typeface="Comic Sans MS"/>
                  <a:cs typeface="Comic Sans MS"/>
                  <a:sym typeface="Comic Sans MS"/>
                </a:rPr>
                <a:t>s have the same value for n+l, the one with the lower n value comes first</a:t>
              </a:r>
              <a:endParaRPr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316" name="Google Shape;316;p36"/>
          <p:cNvGrpSpPr/>
          <p:nvPr/>
        </p:nvGrpSpPr>
        <p:grpSpPr>
          <a:xfrm>
            <a:off x="4309750" y="2576026"/>
            <a:ext cx="3855275" cy="831300"/>
            <a:chOff x="4309750" y="2377011"/>
            <a:chExt cx="3855275" cy="831300"/>
          </a:xfrm>
        </p:grpSpPr>
        <p:grpSp>
          <p:nvGrpSpPr>
            <p:cNvPr id="317" name="Google Shape;317;p36"/>
            <p:cNvGrpSpPr/>
            <p:nvPr/>
          </p:nvGrpSpPr>
          <p:grpSpPr>
            <a:xfrm>
              <a:off x="4309750" y="2403625"/>
              <a:ext cx="3747900" cy="792600"/>
              <a:chOff x="4309750" y="2403625"/>
              <a:chExt cx="3747900" cy="792600"/>
            </a:xfrm>
          </p:grpSpPr>
          <p:sp>
            <p:nvSpPr>
              <p:cNvPr id="318" name="Google Shape;318;p36"/>
              <p:cNvSpPr/>
              <p:nvPr/>
            </p:nvSpPr>
            <p:spPr>
              <a:xfrm flipH="1" rot="5400000">
                <a:off x="4135600" y="2577775"/>
                <a:ext cx="792600" cy="444300"/>
              </a:xfrm>
              <a:prstGeom prst="trapezoid">
                <a:avLst>
                  <a:gd fmla="val 25000" name="adj"/>
                </a:avLst>
              </a:prstGeom>
              <a:solidFill>
                <a:srgbClr val="6FA8D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36"/>
              <p:cNvSpPr/>
              <p:nvPr/>
            </p:nvSpPr>
            <p:spPr>
              <a:xfrm>
                <a:off x="4754050" y="2511325"/>
                <a:ext cx="3303600" cy="577500"/>
              </a:xfrm>
              <a:prstGeom prst="rect">
                <a:avLst/>
              </a:prstGeom>
              <a:solidFill>
                <a:srgbClr val="6FA8D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0" name="Google Shape;320;p36"/>
            <p:cNvSpPr txBox="1"/>
            <p:nvPr/>
          </p:nvSpPr>
          <p:spPr>
            <a:xfrm>
              <a:off x="4700325" y="2377011"/>
              <a:ext cx="34647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Comic Sans MS"/>
                  <a:ea typeface="Comic Sans MS"/>
                  <a:cs typeface="Comic Sans MS"/>
                  <a:sym typeface="Comic Sans MS"/>
                </a:rPr>
                <a:t>When 2 </a:t>
              </a:r>
              <a:r>
                <a:rPr lang="en-US">
                  <a:latin typeface="Comic Sans MS"/>
                  <a:ea typeface="Comic Sans MS"/>
                  <a:cs typeface="Comic Sans MS"/>
                  <a:sym typeface="Comic Sans MS"/>
                </a:rPr>
                <a:t>sub-shell</a:t>
              </a:r>
              <a:r>
                <a:rPr lang="en-US">
                  <a:latin typeface="Comic Sans MS"/>
                  <a:ea typeface="Comic Sans MS"/>
                  <a:cs typeface="Comic Sans MS"/>
                  <a:sym typeface="Comic Sans MS"/>
                </a:rPr>
                <a:t>s have the same value for n+l, the one with the lower n value comes first</a:t>
              </a:r>
              <a:endParaRPr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321" name="Google Shape;321;p36"/>
          <p:cNvGrpSpPr/>
          <p:nvPr/>
        </p:nvGrpSpPr>
        <p:grpSpPr>
          <a:xfrm>
            <a:off x="4309750" y="3526150"/>
            <a:ext cx="3855275" cy="1195200"/>
            <a:chOff x="4309750" y="3424550"/>
            <a:chExt cx="3855275" cy="1195200"/>
          </a:xfrm>
        </p:grpSpPr>
        <p:sp>
          <p:nvSpPr>
            <p:cNvPr id="322" name="Google Shape;322;p36"/>
            <p:cNvSpPr/>
            <p:nvPr/>
          </p:nvSpPr>
          <p:spPr>
            <a:xfrm>
              <a:off x="4754050" y="3608325"/>
              <a:ext cx="3303600" cy="8574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3" name="Google Shape;323;p36"/>
            <p:cNvGrpSpPr/>
            <p:nvPr/>
          </p:nvGrpSpPr>
          <p:grpSpPr>
            <a:xfrm>
              <a:off x="4309750" y="3424550"/>
              <a:ext cx="3855275" cy="1195200"/>
              <a:chOff x="4309750" y="3424550"/>
              <a:chExt cx="3855275" cy="1195200"/>
            </a:xfrm>
          </p:grpSpPr>
          <p:sp>
            <p:nvSpPr>
              <p:cNvPr id="324" name="Google Shape;324;p36"/>
              <p:cNvSpPr/>
              <p:nvPr/>
            </p:nvSpPr>
            <p:spPr>
              <a:xfrm flipH="1" rot="5400000">
                <a:off x="3934300" y="3800000"/>
                <a:ext cx="1195200" cy="444300"/>
              </a:xfrm>
              <a:prstGeom prst="trapezoid">
                <a:avLst>
                  <a:gd fmla="val 25000" name="adj"/>
                </a:avLst>
              </a:prstGeom>
              <a:solidFill>
                <a:srgbClr val="6FA8D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36"/>
              <p:cNvSpPr txBox="1"/>
              <p:nvPr/>
            </p:nvSpPr>
            <p:spPr>
              <a:xfrm>
                <a:off x="4700325" y="3626411"/>
                <a:ext cx="34647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Comic Sans MS"/>
                    <a:ea typeface="Comic Sans MS"/>
                    <a:cs typeface="Comic Sans MS"/>
                    <a:sym typeface="Comic Sans MS"/>
                  </a:rPr>
                  <a:t>When 2 </a:t>
                </a:r>
                <a:r>
                  <a:rPr lang="en-US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or more </a:t>
                </a:r>
                <a:r>
                  <a:rPr lang="en-US">
                    <a:latin typeface="Comic Sans MS"/>
                    <a:ea typeface="Comic Sans MS"/>
                    <a:cs typeface="Comic Sans MS"/>
                    <a:sym typeface="Comic Sans MS"/>
                  </a:rPr>
                  <a:t>sub-shell</a:t>
                </a:r>
                <a:r>
                  <a:rPr lang="en-US">
                    <a:latin typeface="Comic Sans MS"/>
                    <a:ea typeface="Comic Sans MS"/>
                    <a:cs typeface="Comic Sans MS"/>
                    <a:sym typeface="Comic Sans MS"/>
                  </a:rPr>
                  <a:t>s have the same value for n+l, the one with the lower n value comes first</a:t>
                </a:r>
                <a:endParaRPr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sp>
        <p:nvSpPr>
          <p:cNvPr id="326" name="Google Shape;326;p36"/>
          <p:cNvSpPr txBox="1"/>
          <p:nvPr/>
        </p:nvSpPr>
        <p:spPr>
          <a:xfrm>
            <a:off x="609600" y="4307114"/>
            <a:ext cx="686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br>
              <a:rPr lang="en-US" sz="2400">
                <a:solidFill>
                  <a:schemeClr val="dk1"/>
                </a:solidFill>
              </a:rPr>
            </a:br>
            <a:r>
              <a:rPr lang="en-US" sz="2400">
                <a:solidFill>
                  <a:schemeClr val="dk1"/>
                </a:solidFill>
              </a:rPr>
              <a:t>									etc...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Electron Configuration</a:t>
            </a:r>
            <a:endParaRPr/>
          </a:p>
        </p:txBody>
      </p:sp>
      <p:sp>
        <p:nvSpPr>
          <p:cNvPr id="333" name="Google Shape;333;p37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When writing the electron configuration of an element, always write them in order from lowest energy to highest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Formating is as follows:</a:t>
            </a:r>
            <a:endParaRPr/>
          </a:p>
        </p:txBody>
      </p:sp>
      <p:sp>
        <p:nvSpPr>
          <p:cNvPr id="334" name="Google Shape;334;p37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" name="Google Shape;335;p37"/>
          <p:cNvSpPr txBox="1"/>
          <p:nvPr/>
        </p:nvSpPr>
        <p:spPr>
          <a:xfrm>
            <a:off x="4141400" y="3410700"/>
            <a:ext cx="11901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1s</a:t>
            </a:r>
            <a:r>
              <a:rPr baseline="30000" lang="en-US" sz="4300"/>
              <a:t>2</a:t>
            </a:r>
            <a:endParaRPr baseline="30000" sz="4300"/>
          </a:p>
        </p:txBody>
      </p:sp>
      <p:sp>
        <p:nvSpPr>
          <p:cNvPr id="336" name="Google Shape;336;p37"/>
          <p:cNvSpPr txBox="1"/>
          <p:nvPr/>
        </p:nvSpPr>
        <p:spPr>
          <a:xfrm>
            <a:off x="1282100" y="3410700"/>
            <a:ext cx="21771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Energy Level (shell)</a:t>
            </a:r>
            <a:endParaRPr sz="2400"/>
          </a:p>
        </p:txBody>
      </p:sp>
      <p:cxnSp>
        <p:nvCxnSpPr>
          <p:cNvPr id="337" name="Google Shape;337;p37"/>
          <p:cNvCxnSpPr>
            <a:stCxn id="336" idx="3"/>
          </p:cNvCxnSpPr>
          <p:nvPr/>
        </p:nvCxnSpPr>
        <p:spPr>
          <a:xfrm flipH="1" rot="10800000">
            <a:off x="3459200" y="3696450"/>
            <a:ext cx="798300" cy="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37"/>
          <p:cNvSpPr txBox="1"/>
          <p:nvPr/>
        </p:nvSpPr>
        <p:spPr>
          <a:xfrm>
            <a:off x="4925175" y="4378475"/>
            <a:ext cx="21771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Sub-shell type</a:t>
            </a:r>
            <a:endParaRPr sz="2400"/>
          </a:p>
        </p:txBody>
      </p:sp>
      <p:cxnSp>
        <p:nvCxnSpPr>
          <p:cNvPr id="339" name="Google Shape;339;p37"/>
          <p:cNvCxnSpPr/>
          <p:nvPr/>
        </p:nvCxnSpPr>
        <p:spPr>
          <a:xfrm rot="10800000">
            <a:off x="4780300" y="4088200"/>
            <a:ext cx="377100" cy="42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" name="Google Shape;340;p37"/>
          <p:cNvCxnSpPr/>
          <p:nvPr/>
        </p:nvCxnSpPr>
        <p:spPr>
          <a:xfrm flipH="1">
            <a:off x="5041450" y="3318925"/>
            <a:ext cx="667500" cy="21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" name="Google Shape;341;p37"/>
          <p:cNvSpPr txBox="1"/>
          <p:nvPr/>
        </p:nvSpPr>
        <p:spPr>
          <a:xfrm>
            <a:off x="5679925" y="3072200"/>
            <a:ext cx="29754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number of electrons found in sub-shell</a:t>
            </a:r>
            <a:endParaRPr sz="2400"/>
          </a:p>
        </p:txBody>
      </p:sp>
      <p:sp>
        <p:nvSpPr>
          <p:cNvPr id="342" name="Google Shape;342;p37"/>
          <p:cNvSpPr txBox="1"/>
          <p:nvPr/>
        </p:nvSpPr>
        <p:spPr>
          <a:xfrm>
            <a:off x="33868" y="4407514"/>
            <a:ext cx="49494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This is the configuration for Helium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for configuration</a:t>
            </a:r>
            <a:endParaRPr/>
          </a:p>
        </p:txBody>
      </p:sp>
      <p:sp>
        <p:nvSpPr>
          <p:cNvPr id="349" name="Google Shape;349;p38"/>
          <p:cNvSpPr txBox="1"/>
          <p:nvPr>
            <p:ph idx="1" type="body"/>
          </p:nvPr>
        </p:nvSpPr>
        <p:spPr>
          <a:xfrm>
            <a:off x="685800" y="1485900"/>
            <a:ext cx="42105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>
                <a:solidFill>
                  <a:schemeClr val="dk1"/>
                </a:solidFill>
              </a:rPr>
              <a:t>Count the number of electrons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(equal to the atomic number)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>
                <a:solidFill>
                  <a:schemeClr val="dk1"/>
                </a:solidFill>
              </a:rPr>
              <a:t>Start at the lowest energy level (1s)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>
                <a:solidFill>
                  <a:schemeClr val="dk1"/>
                </a:solidFill>
              </a:rPr>
              <a:t>Continue adding electrons until you run out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38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38"/>
          <p:cNvSpPr txBox="1"/>
          <p:nvPr/>
        </p:nvSpPr>
        <p:spPr>
          <a:xfrm>
            <a:off x="4910675" y="1533675"/>
            <a:ext cx="4210500" cy="3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Example: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Element Cobalt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(27 electrons)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1s</a:t>
            </a:r>
            <a:r>
              <a:rPr baseline="30000" lang="en-US" sz="2400"/>
              <a:t>2</a:t>
            </a:r>
            <a:endParaRPr baseline="30000" sz="2400"/>
          </a:p>
        </p:txBody>
      </p:sp>
      <p:sp>
        <p:nvSpPr>
          <p:cNvPr id="352" name="Google Shape;352;p38"/>
          <p:cNvSpPr txBox="1"/>
          <p:nvPr/>
        </p:nvSpPr>
        <p:spPr>
          <a:xfrm>
            <a:off x="5331582" y="3725325"/>
            <a:ext cx="667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2s</a:t>
            </a:r>
            <a:r>
              <a:rPr baseline="30000" lang="en-US" sz="2400">
                <a:solidFill>
                  <a:schemeClr val="dk1"/>
                </a:solidFill>
              </a:rPr>
              <a:t>2</a:t>
            </a:r>
            <a:endParaRPr sz="2400"/>
          </a:p>
        </p:txBody>
      </p:sp>
      <p:sp>
        <p:nvSpPr>
          <p:cNvPr id="353" name="Google Shape;353;p38"/>
          <p:cNvSpPr txBox="1"/>
          <p:nvPr/>
        </p:nvSpPr>
        <p:spPr>
          <a:xfrm>
            <a:off x="5748486" y="3721325"/>
            <a:ext cx="66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2p</a:t>
            </a:r>
            <a:r>
              <a:rPr baseline="30000" lang="en-US" sz="2400">
                <a:solidFill>
                  <a:schemeClr val="dk1"/>
                </a:solidFill>
              </a:rPr>
              <a:t>6</a:t>
            </a:r>
            <a:endParaRPr/>
          </a:p>
        </p:txBody>
      </p:sp>
      <p:sp>
        <p:nvSpPr>
          <p:cNvPr id="354" name="Google Shape;354;p38"/>
          <p:cNvSpPr txBox="1"/>
          <p:nvPr/>
        </p:nvSpPr>
        <p:spPr>
          <a:xfrm>
            <a:off x="6188068" y="3725325"/>
            <a:ext cx="66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3s</a:t>
            </a:r>
            <a:r>
              <a:rPr baseline="30000" lang="en-US" sz="2400">
                <a:solidFill>
                  <a:schemeClr val="dk1"/>
                </a:solidFill>
              </a:rPr>
              <a:t>2</a:t>
            </a:r>
            <a:endParaRPr/>
          </a:p>
        </p:txBody>
      </p:sp>
      <p:sp>
        <p:nvSpPr>
          <p:cNvPr id="355" name="Google Shape;355;p38"/>
          <p:cNvSpPr txBox="1"/>
          <p:nvPr/>
        </p:nvSpPr>
        <p:spPr>
          <a:xfrm>
            <a:off x="6611257" y="37253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3p</a:t>
            </a:r>
            <a:r>
              <a:rPr baseline="30000" lang="en-US" sz="2400">
                <a:solidFill>
                  <a:schemeClr val="dk1"/>
                </a:solidFill>
              </a:rPr>
              <a:t>6</a:t>
            </a:r>
            <a:endParaRPr/>
          </a:p>
        </p:txBody>
      </p:sp>
      <p:sp>
        <p:nvSpPr>
          <p:cNvPr id="356" name="Google Shape;356;p38"/>
          <p:cNvSpPr txBox="1"/>
          <p:nvPr/>
        </p:nvSpPr>
        <p:spPr>
          <a:xfrm>
            <a:off x="7039425" y="3719882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4s</a:t>
            </a:r>
            <a:r>
              <a:rPr baseline="30000" lang="en-US" sz="2400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7" name="Google Shape;357;p38"/>
          <p:cNvSpPr txBox="1"/>
          <p:nvPr/>
        </p:nvSpPr>
        <p:spPr>
          <a:xfrm>
            <a:off x="7450650" y="373016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3d</a:t>
            </a:r>
            <a:r>
              <a:rPr baseline="30000" lang="en-US" sz="2400">
                <a:solidFill>
                  <a:schemeClr val="dk1"/>
                </a:solidFill>
              </a:rPr>
              <a:t>7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58" name="Google Shape;358;p38"/>
          <p:cNvCxnSpPr/>
          <p:nvPr/>
        </p:nvCxnSpPr>
        <p:spPr>
          <a:xfrm flipH="1" rot="10800000">
            <a:off x="5075150" y="2404425"/>
            <a:ext cx="3918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38"/>
          <p:cNvSpPr txBox="1"/>
          <p:nvPr/>
        </p:nvSpPr>
        <p:spPr>
          <a:xfrm>
            <a:off x="5176757" y="2506132"/>
            <a:ext cx="667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25</a:t>
            </a:r>
            <a:endParaRPr sz="2400"/>
          </a:p>
        </p:txBody>
      </p:sp>
      <p:cxnSp>
        <p:nvCxnSpPr>
          <p:cNvPr id="360" name="Google Shape;360;p38"/>
          <p:cNvCxnSpPr/>
          <p:nvPr/>
        </p:nvCxnSpPr>
        <p:spPr>
          <a:xfrm flipH="1" rot="10800000">
            <a:off x="5256579" y="2614882"/>
            <a:ext cx="3918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38"/>
          <p:cNvSpPr txBox="1"/>
          <p:nvPr/>
        </p:nvSpPr>
        <p:spPr>
          <a:xfrm>
            <a:off x="5358186" y="2716589"/>
            <a:ext cx="667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23</a:t>
            </a:r>
            <a:endParaRPr sz="2400"/>
          </a:p>
        </p:txBody>
      </p:sp>
      <p:cxnSp>
        <p:nvCxnSpPr>
          <p:cNvPr id="362" name="Google Shape;362;p38"/>
          <p:cNvCxnSpPr/>
          <p:nvPr/>
        </p:nvCxnSpPr>
        <p:spPr>
          <a:xfrm flipH="1" rot="10800000">
            <a:off x="5423493" y="2825339"/>
            <a:ext cx="3918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38"/>
          <p:cNvSpPr txBox="1"/>
          <p:nvPr/>
        </p:nvSpPr>
        <p:spPr>
          <a:xfrm>
            <a:off x="5525100" y="2927046"/>
            <a:ext cx="667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17</a:t>
            </a:r>
            <a:endParaRPr sz="2400"/>
          </a:p>
        </p:txBody>
      </p:sp>
      <p:cxnSp>
        <p:nvCxnSpPr>
          <p:cNvPr id="364" name="Google Shape;364;p38"/>
          <p:cNvCxnSpPr/>
          <p:nvPr/>
        </p:nvCxnSpPr>
        <p:spPr>
          <a:xfrm flipH="1" rot="10800000">
            <a:off x="5604921" y="3021282"/>
            <a:ext cx="3918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8"/>
          <p:cNvSpPr txBox="1"/>
          <p:nvPr/>
        </p:nvSpPr>
        <p:spPr>
          <a:xfrm>
            <a:off x="5706529" y="3122989"/>
            <a:ext cx="667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15</a:t>
            </a:r>
            <a:endParaRPr sz="2400"/>
          </a:p>
        </p:txBody>
      </p:sp>
      <p:cxnSp>
        <p:nvCxnSpPr>
          <p:cNvPr id="366" name="Google Shape;366;p38"/>
          <p:cNvCxnSpPr/>
          <p:nvPr/>
        </p:nvCxnSpPr>
        <p:spPr>
          <a:xfrm flipH="1" rot="10800000">
            <a:off x="5815379" y="3217225"/>
            <a:ext cx="3918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38"/>
          <p:cNvSpPr txBox="1"/>
          <p:nvPr/>
        </p:nvSpPr>
        <p:spPr>
          <a:xfrm>
            <a:off x="6134700" y="2854475"/>
            <a:ext cx="667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9</a:t>
            </a:r>
            <a:endParaRPr sz="2400"/>
          </a:p>
        </p:txBody>
      </p:sp>
      <p:cxnSp>
        <p:nvCxnSpPr>
          <p:cNvPr id="368" name="Google Shape;368;p38"/>
          <p:cNvCxnSpPr/>
          <p:nvPr/>
        </p:nvCxnSpPr>
        <p:spPr>
          <a:xfrm flipH="1" rot="10800000">
            <a:off x="6141950" y="2977739"/>
            <a:ext cx="3918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38"/>
          <p:cNvSpPr txBox="1"/>
          <p:nvPr/>
        </p:nvSpPr>
        <p:spPr>
          <a:xfrm>
            <a:off x="6388700" y="3064932"/>
            <a:ext cx="667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7</a:t>
            </a:r>
            <a:endParaRPr sz="2400"/>
          </a:p>
        </p:txBody>
      </p:sp>
      <p:sp>
        <p:nvSpPr>
          <p:cNvPr id="370" name="Google Shape;370;p38"/>
          <p:cNvSpPr txBox="1"/>
          <p:nvPr/>
        </p:nvSpPr>
        <p:spPr>
          <a:xfrm>
            <a:off x="4896154" y="4204311"/>
            <a:ext cx="3730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Noble Gas configuration: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[Ar]4s</a:t>
            </a:r>
            <a:r>
              <a:rPr baseline="30000" lang="en-US" sz="2400"/>
              <a:t>2</a:t>
            </a:r>
            <a:r>
              <a:rPr lang="en-US" sz="2400"/>
              <a:t>3d</a:t>
            </a:r>
            <a:r>
              <a:rPr baseline="30000" lang="en-US" sz="2400"/>
              <a:t>7</a:t>
            </a:r>
            <a:endParaRPr baseline="30000"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"/>
          <p:cNvSpPr txBox="1"/>
          <p:nvPr>
            <p:ph type="title"/>
          </p:nvPr>
        </p:nvSpPr>
        <p:spPr>
          <a:xfrm>
            <a:off x="685800" y="4572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Electron Spin</a:t>
            </a:r>
            <a:endParaRPr/>
          </a:p>
        </p:txBody>
      </p:sp>
      <p:sp>
        <p:nvSpPr>
          <p:cNvPr id="377" name="Google Shape;377;p39"/>
          <p:cNvSpPr txBox="1"/>
          <p:nvPr/>
        </p:nvSpPr>
        <p:spPr>
          <a:xfrm>
            <a:off x="457200" y="724662"/>
            <a:ext cx="7864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rgbClr val="006600"/>
                </a:solidFill>
              </a:rPr>
              <a:t>Electron spin </a:t>
            </a:r>
            <a:r>
              <a:rPr b="1" i="0" lang="en-US" sz="3200" u="none" cap="none" strike="noStrike">
                <a:solidFill>
                  <a:srgbClr val="0C0C0C"/>
                </a:solidFill>
              </a:rPr>
              <a:t>describes the behavior (direction of spin) of an electron within a magnetic field.</a:t>
            </a:r>
            <a:endParaRPr/>
          </a:p>
        </p:txBody>
      </p:sp>
      <p:sp>
        <p:nvSpPr>
          <p:cNvPr id="378" name="Google Shape;378;p39"/>
          <p:cNvSpPr txBox="1"/>
          <p:nvPr/>
        </p:nvSpPr>
        <p:spPr>
          <a:xfrm>
            <a:off x="533400" y="2553462"/>
            <a:ext cx="7178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C0C0C"/>
                </a:solidFill>
              </a:rPr>
              <a:t>Possibilities for electron spin:</a:t>
            </a:r>
            <a:endParaRPr/>
          </a:p>
        </p:txBody>
      </p:sp>
      <p:pic>
        <p:nvPicPr>
          <p:cNvPr id="379" name="Google Shape;3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4850" y="2490788"/>
            <a:ext cx="85724" cy="161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3220212"/>
            <a:ext cx="800099" cy="1240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0" y="3220212"/>
            <a:ext cx="800099" cy="124063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9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Pauli Exclusion Principle</a:t>
            </a:r>
            <a:endParaRPr/>
          </a:p>
        </p:txBody>
      </p:sp>
      <p:pic>
        <p:nvPicPr>
          <p:cNvPr descr="nobelpauli1" id="389" name="Google Shape;38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71600"/>
            <a:ext cx="1858566" cy="26289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10"/>
              </a:srgbClr>
            </a:outerShdw>
          </a:effectLst>
        </p:spPr>
      </p:pic>
      <p:sp>
        <p:nvSpPr>
          <p:cNvPr id="390" name="Google Shape;390;p40"/>
          <p:cNvSpPr/>
          <p:nvPr/>
        </p:nvSpPr>
        <p:spPr>
          <a:xfrm>
            <a:off x="3352800" y="1085850"/>
            <a:ext cx="5334000" cy="1657200"/>
          </a:xfrm>
          <a:prstGeom prst="wedgeRoundRectCallout">
            <a:avLst>
              <a:gd fmla="val -58978" name="adj1"/>
              <a:gd fmla="val 66000" name="adj2"/>
              <a:gd fmla="val 16667" name="adj3"/>
            </a:avLst>
          </a:pr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C0C0C"/>
                </a:solidFill>
                <a:latin typeface="Comic Sans MS"/>
                <a:ea typeface="Comic Sans MS"/>
                <a:cs typeface="Comic Sans MS"/>
                <a:sym typeface="Comic Sans MS"/>
              </a:rPr>
              <a:t>Only two electrons may occupy the same orbital and they must have </a:t>
            </a:r>
            <a:r>
              <a:rPr b="1" i="1" lang="en-US" sz="2600" u="sng" cap="none" strike="noStrike">
                <a:solidFill>
                  <a:srgbClr val="0C0C0C"/>
                </a:solidFill>
                <a:latin typeface="Comic Sans MS"/>
                <a:ea typeface="Comic Sans MS"/>
                <a:cs typeface="Comic Sans MS"/>
                <a:sym typeface="Comic Sans MS"/>
              </a:rPr>
              <a:t>opposite</a:t>
            </a:r>
            <a:r>
              <a:rPr b="1" i="0" lang="en-US" sz="2600" u="none" cap="none" strike="noStrike">
                <a:solidFill>
                  <a:srgbClr val="0C0C0C"/>
                </a:solidFill>
                <a:latin typeface="Comic Sans MS"/>
                <a:ea typeface="Comic Sans MS"/>
                <a:cs typeface="Comic Sans MS"/>
                <a:sym typeface="Comic Sans MS"/>
              </a:rPr>
              <a:t> spins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1" name="Google Shape;391;p40"/>
          <p:cNvSpPr txBox="1"/>
          <p:nvPr/>
        </p:nvSpPr>
        <p:spPr>
          <a:xfrm>
            <a:off x="990600" y="4057650"/>
            <a:ext cx="17034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  <a:latin typeface="Comic Sans MS"/>
                <a:ea typeface="Comic Sans MS"/>
                <a:cs typeface="Comic Sans MS"/>
                <a:sym typeface="Comic Sans MS"/>
              </a:rPr>
              <a:t>Wolfgang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  <a:latin typeface="Comic Sans MS"/>
                <a:ea typeface="Comic Sans MS"/>
                <a:cs typeface="Comic Sans MS"/>
                <a:sym typeface="Comic Sans MS"/>
              </a:rPr>
              <a:t>Pauli</a:t>
            </a:r>
            <a:endParaRPr/>
          </a:p>
        </p:txBody>
      </p:sp>
      <p:sp>
        <p:nvSpPr>
          <p:cNvPr id="392" name="Google Shape;392;p40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le:Hund,Friedrich 1920er Göttingen.jpg" id="398" name="Google Shape;398;p4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034653"/>
            <a:ext cx="2114550" cy="3015853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1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Hund’s Rule</a:t>
            </a:r>
            <a:endParaRPr>
              <a:solidFill>
                <a:srgbClr val="0C0C0C"/>
              </a:solidFill>
            </a:endParaRPr>
          </a:p>
        </p:txBody>
      </p:sp>
      <p:sp>
        <p:nvSpPr>
          <p:cNvPr id="400" name="Google Shape;400;p41"/>
          <p:cNvSpPr txBox="1"/>
          <p:nvPr/>
        </p:nvSpPr>
        <p:spPr>
          <a:xfrm>
            <a:off x="990600" y="4057650"/>
            <a:ext cx="15543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Friedrich Hund</a:t>
            </a:r>
            <a:endParaRPr b="1"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1" name="Google Shape;401;p41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" name="Google Shape;402;p41"/>
          <p:cNvSpPr/>
          <p:nvPr/>
        </p:nvSpPr>
        <p:spPr>
          <a:xfrm>
            <a:off x="3581400" y="1143000"/>
            <a:ext cx="5334000" cy="2214300"/>
          </a:xfrm>
          <a:prstGeom prst="wedgeRoundRectCallout">
            <a:avLst>
              <a:gd fmla="val -78874" name="adj1"/>
              <a:gd fmla="val 22711" name="adj2"/>
              <a:gd fmla="val 16667" name="adj3"/>
            </a:avLst>
          </a:pr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filling orbitals of the same energy then maximize the magnitude of the spin.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42"/>
          <p:cNvGrpSpPr/>
          <p:nvPr/>
        </p:nvGrpSpPr>
        <p:grpSpPr>
          <a:xfrm>
            <a:off x="4585425" y="881414"/>
            <a:ext cx="1332600" cy="4247557"/>
            <a:chOff x="4585425" y="866900"/>
            <a:chExt cx="1332600" cy="4247557"/>
          </a:xfrm>
        </p:grpSpPr>
        <p:sp>
          <p:nvSpPr>
            <p:cNvPr id="409" name="Google Shape;409;p42"/>
            <p:cNvSpPr/>
            <p:nvPr/>
          </p:nvSpPr>
          <p:spPr>
            <a:xfrm flipH="1" rot="10800000">
              <a:off x="4585425" y="866900"/>
              <a:ext cx="1332600" cy="167100"/>
            </a:xfrm>
            <a:prstGeom prst="trapezoid">
              <a:avLst>
                <a:gd fmla="val 98250" name="adj"/>
              </a:avLst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2"/>
            <p:cNvSpPr/>
            <p:nvPr/>
          </p:nvSpPr>
          <p:spPr>
            <a:xfrm flipH="1" rot="10800000">
              <a:off x="4585425" y="1445461"/>
              <a:ext cx="1332600" cy="167100"/>
            </a:xfrm>
            <a:prstGeom prst="trapezoid">
              <a:avLst>
                <a:gd fmla="val 98250" name="adj"/>
              </a:avLst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2"/>
            <p:cNvSpPr/>
            <p:nvPr/>
          </p:nvSpPr>
          <p:spPr>
            <a:xfrm flipH="1" rot="10800000">
              <a:off x="4585425" y="2019286"/>
              <a:ext cx="1332600" cy="167100"/>
            </a:xfrm>
            <a:prstGeom prst="trapezoid">
              <a:avLst>
                <a:gd fmla="val 98250" name="adj"/>
              </a:avLst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2"/>
            <p:cNvSpPr/>
            <p:nvPr/>
          </p:nvSpPr>
          <p:spPr>
            <a:xfrm flipH="1" rot="10800000">
              <a:off x="4585425" y="2617645"/>
              <a:ext cx="1332600" cy="167100"/>
            </a:xfrm>
            <a:prstGeom prst="trapezoid">
              <a:avLst>
                <a:gd fmla="val 98250" name="adj"/>
              </a:avLst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2"/>
            <p:cNvSpPr/>
            <p:nvPr/>
          </p:nvSpPr>
          <p:spPr>
            <a:xfrm flipH="1" rot="10800000">
              <a:off x="4585425" y="3198670"/>
              <a:ext cx="1332600" cy="167100"/>
            </a:xfrm>
            <a:prstGeom prst="trapezoid">
              <a:avLst>
                <a:gd fmla="val 98250" name="adj"/>
              </a:avLst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2"/>
            <p:cNvSpPr/>
            <p:nvPr/>
          </p:nvSpPr>
          <p:spPr>
            <a:xfrm flipH="1" rot="10800000">
              <a:off x="4585425" y="3779695"/>
              <a:ext cx="1332600" cy="167100"/>
            </a:xfrm>
            <a:prstGeom prst="trapezoid">
              <a:avLst>
                <a:gd fmla="val 98250" name="adj"/>
              </a:avLst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2"/>
            <p:cNvSpPr/>
            <p:nvPr/>
          </p:nvSpPr>
          <p:spPr>
            <a:xfrm flipH="1" rot="10800000">
              <a:off x="4585425" y="4356816"/>
              <a:ext cx="1332600" cy="167100"/>
            </a:xfrm>
            <a:prstGeom prst="trapezoid">
              <a:avLst>
                <a:gd fmla="val 98250" name="adj"/>
              </a:avLst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2"/>
            <p:cNvSpPr/>
            <p:nvPr/>
          </p:nvSpPr>
          <p:spPr>
            <a:xfrm flipH="1" rot="10800000">
              <a:off x="4585425" y="4947357"/>
              <a:ext cx="1332600" cy="167100"/>
            </a:xfrm>
            <a:prstGeom prst="trapezoid">
              <a:avLst>
                <a:gd fmla="val 98250" name="adj"/>
              </a:avLst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42"/>
          <p:cNvGrpSpPr/>
          <p:nvPr/>
        </p:nvGrpSpPr>
        <p:grpSpPr>
          <a:xfrm>
            <a:off x="4082575" y="881414"/>
            <a:ext cx="322200" cy="4259141"/>
            <a:chOff x="4082575" y="866900"/>
            <a:chExt cx="322200" cy="4259141"/>
          </a:xfrm>
        </p:grpSpPr>
        <p:sp>
          <p:nvSpPr>
            <p:cNvPr id="418" name="Google Shape;418;p42"/>
            <p:cNvSpPr/>
            <p:nvPr/>
          </p:nvSpPr>
          <p:spPr>
            <a:xfrm flipH="1" rot="10800000">
              <a:off x="4082575" y="866900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2"/>
            <p:cNvSpPr/>
            <p:nvPr/>
          </p:nvSpPr>
          <p:spPr>
            <a:xfrm flipH="1" rot="10800000">
              <a:off x="4082575" y="1444941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2"/>
            <p:cNvSpPr/>
            <p:nvPr/>
          </p:nvSpPr>
          <p:spPr>
            <a:xfrm flipH="1" rot="10800000">
              <a:off x="4082575" y="2025966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2"/>
            <p:cNvSpPr/>
            <p:nvPr/>
          </p:nvSpPr>
          <p:spPr>
            <a:xfrm flipH="1" rot="10800000">
              <a:off x="4082575" y="2620420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2"/>
            <p:cNvSpPr/>
            <p:nvPr/>
          </p:nvSpPr>
          <p:spPr>
            <a:xfrm flipH="1" rot="10800000">
              <a:off x="4082575" y="3191000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2"/>
            <p:cNvSpPr/>
            <p:nvPr/>
          </p:nvSpPr>
          <p:spPr>
            <a:xfrm flipH="1" rot="10800000">
              <a:off x="4082575" y="3782470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2"/>
            <p:cNvSpPr/>
            <p:nvPr/>
          </p:nvSpPr>
          <p:spPr>
            <a:xfrm flipH="1" rot="10800000">
              <a:off x="4082575" y="4363495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2"/>
            <p:cNvSpPr/>
            <p:nvPr/>
          </p:nvSpPr>
          <p:spPr>
            <a:xfrm flipH="1" rot="10800000">
              <a:off x="4082575" y="4945441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" name="Google Shape;426;p42"/>
          <p:cNvGrpSpPr/>
          <p:nvPr/>
        </p:nvGrpSpPr>
        <p:grpSpPr>
          <a:xfrm>
            <a:off x="3579720" y="881410"/>
            <a:ext cx="322200" cy="4259141"/>
            <a:chOff x="4082575" y="866900"/>
            <a:chExt cx="322200" cy="4259141"/>
          </a:xfrm>
        </p:grpSpPr>
        <p:sp>
          <p:nvSpPr>
            <p:cNvPr id="427" name="Google Shape;427;p42"/>
            <p:cNvSpPr/>
            <p:nvPr/>
          </p:nvSpPr>
          <p:spPr>
            <a:xfrm flipH="1" rot="10800000">
              <a:off x="4082575" y="866900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2"/>
            <p:cNvSpPr/>
            <p:nvPr/>
          </p:nvSpPr>
          <p:spPr>
            <a:xfrm flipH="1" rot="10800000">
              <a:off x="4082575" y="1444941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2"/>
            <p:cNvSpPr/>
            <p:nvPr/>
          </p:nvSpPr>
          <p:spPr>
            <a:xfrm flipH="1" rot="10800000">
              <a:off x="4082575" y="2025966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2"/>
            <p:cNvSpPr/>
            <p:nvPr/>
          </p:nvSpPr>
          <p:spPr>
            <a:xfrm flipH="1" rot="10800000">
              <a:off x="4082575" y="2620420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2"/>
            <p:cNvSpPr/>
            <p:nvPr/>
          </p:nvSpPr>
          <p:spPr>
            <a:xfrm flipH="1" rot="10800000">
              <a:off x="4082575" y="3191000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2"/>
            <p:cNvSpPr/>
            <p:nvPr/>
          </p:nvSpPr>
          <p:spPr>
            <a:xfrm flipH="1" rot="10800000">
              <a:off x="4082575" y="3782470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2"/>
            <p:cNvSpPr/>
            <p:nvPr/>
          </p:nvSpPr>
          <p:spPr>
            <a:xfrm flipH="1" rot="10800000">
              <a:off x="4082575" y="4363495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2"/>
            <p:cNvSpPr/>
            <p:nvPr/>
          </p:nvSpPr>
          <p:spPr>
            <a:xfrm flipH="1" rot="10800000">
              <a:off x="4082575" y="4945441"/>
              <a:ext cx="322200" cy="180600"/>
            </a:xfrm>
            <a:prstGeom prst="trapezoid">
              <a:avLst>
                <a:gd fmla="val 25000" name="adj"/>
              </a:avLst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35" name="Google Shape;435;p42"/>
          <p:cNvCxnSpPr/>
          <p:nvPr/>
        </p:nvCxnSpPr>
        <p:spPr>
          <a:xfrm rot="10800000">
            <a:off x="3657600" y="5715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42"/>
          <p:cNvCxnSpPr/>
          <p:nvPr/>
        </p:nvCxnSpPr>
        <p:spPr>
          <a:xfrm>
            <a:off x="3810000" y="5715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42"/>
          <p:cNvCxnSpPr/>
          <p:nvPr/>
        </p:nvCxnSpPr>
        <p:spPr>
          <a:xfrm rot="10800000">
            <a:off x="4191000" y="5715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42"/>
          <p:cNvCxnSpPr/>
          <p:nvPr/>
        </p:nvCxnSpPr>
        <p:spPr>
          <a:xfrm rot="10800000">
            <a:off x="3657600" y="11620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42"/>
          <p:cNvCxnSpPr/>
          <p:nvPr/>
        </p:nvCxnSpPr>
        <p:spPr>
          <a:xfrm rot="10800000">
            <a:off x="4191000" y="11620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42"/>
          <p:cNvCxnSpPr/>
          <p:nvPr/>
        </p:nvCxnSpPr>
        <p:spPr>
          <a:xfrm rot="10800000">
            <a:off x="3657600" y="17335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42"/>
          <p:cNvCxnSpPr/>
          <p:nvPr/>
        </p:nvCxnSpPr>
        <p:spPr>
          <a:xfrm rot="10800000">
            <a:off x="4191000" y="17335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42"/>
          <p:cNvCxnSpPr/>
          <p:nvPr/>
        </p:nvCxnSpPr>
        <p:spPr>
          <a:xfrm rot="10800000">
            <a:off x="4648200" y="17335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42"/>
          <p:cNvCxnSpPr/>
          <p:nvPr/>
        </p:nvCxnSpPr>
        <p:spPr>
          <a:xfrm rot="10800000">
            <a:off x="3657600" y="23241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p42"/>
          <p:cNvCxnSpPr/>
          <p:nvPr/>
        </p:nvCxnSpPr>
        <p:spPr>
          <a:xfrm rot="10800000">
            <a:off x="4191000" y="23241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42"/>
          <p:cNvCxnSpPr/>
          <p:nvPr/>
        </p:nvCxnSpPr>
        <p:spPr>
          <a:xfrm rot="10800000">
            <a:off x="4648200" y="23241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42"/>
          <p:cNvCxnSpPr/>
          <p:nvPr/>
        </p:nvCxnSpPr>
        <p:spPr>
          <a:xfrm rot="10800000">
            <a:off x="5181600" y="23241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42"/>
          <p:cNvCxnSpPr/>
          <p:nvPr/>
        </p:nvCxnSpPr>
        <p:spPr>
          <a:xfrm rot="10800000">
            <a:off x="3657600" y="28956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3657600" y="3516441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3657600" y="4080132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42"/>
          <p:cNvCxnSpPr/>
          <p:nvPr/>
        </p:nvCxnSpPr>
        <p:spPr>
          <a:xfrm rot="10800000">
            <a:off x="3657600" y="46482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42"/>
          <p:cNvCxnSpPr/>
          <p:nvPr/>
        </p:nvCxnSpPr>
        <p:spPr>
          <a:xfrm rot="10800000">
            <a:off x="4191000" y="28956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2" name="Google Shape;452;p42"/>
          <p:cNvCxnSpPr/>
          <p:nvPr/>
        </p:nvCxnSpPr>
        <p:spPr>
          <a:xfrm rot="10800000">
            <a:off x="4191000" y="3516441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42"/>
          <p:cNvCxnSpPr/>
          <p:nvPr/>
        </p:nvCxnSpPr>
        <p:spPr>
          <a:xfrm rot="10800000">
            <a:off x="4191000" y="40576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42"/>
          <p:cNvCxnSpPr/>
          <p:nvPr/>
        </p:nvCxnSpPr>
        <p:spPr>
          <a:xfrm rot="10800000">
            <a:off x="4191000" y="46482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5" name="Google Shape;455;p42"/>
          <p:cNvCxnSpPr/>
          <p:nvPr/>
        </p:nvCxnSpPr>
        <p:spPr>
          <a:xfrm rot="10800000">
            <a:off x="4648200" y="28956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6" name="Google Shape;456;p42"/>
          <p:cNvCxnSpPr/>
          <p:nvPr/>
        </p:nvCxnSpPr>
        <p:spPr>
          <a:xfrm rot="10800000">
            <a:off x="4648200" y="34671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7" name="Google Shape;457;p42"/>
          <p:cNvCxnSpPr/>
          <p:nvPr/>
        </p:nvCxnSpPr>
        <p:spPr>
          <a:xfrm rot="10800000">
            <a:off x="4648200" y="40576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42"/>
          <p:cNvCxnSpPr/>
          <p:nvPr/>
        </p:nvCxnSpPr>
        <p:spPr>
          <a:xfrm rot="10800000">
            <a:off x="4648200" y="46482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42"/>
          <p:cNvCxnSpPr/>
          <p:nvPr/>
        </p:nvCxnSpPr>
        <p:spPr>
          <a:xfrm rot="10800000">
            <a:off x="5181600" y="28956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42"/>
          <p:cNvCxnSpPr/>
          <p:nvPr/>
        </p:nvCxnSpPr>
        <p:spPr>
          <a:xfrm rot="10800000">
            <a:off x="5181600" y="34671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1" name="Google Shape;461;p42"/>
          <p:cNvCxnSpPr/>
          <p:nvPr/>
        </p:nvCxnSpPr>
        <p:spPr>
          <a:xfrm rot="10800000">
            <a:off x="5181600" y="40576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42"/>
          <p:cNvCxnSpPr/>
          <p:nvPr/>
        </p:nvCxnSpPr>
        <p:spPr>
          <a:xfrm rot="10800000">
            <a:off x="5181600" y="46482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" name="Google Shape;463;p42"/>
          <p:cNvCxnSpPr/>
          <p:nvPr/>
        </p:nvCxnSpPr>
        <p:spPr>
          <a:xfrm rot="10800000">
            <a:off x="5715000" y="28956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" name="Google Shape;464;p42"/>
          <p:cNvCxnSpPr/>
          <p:nvPr/>
        </p:nvCxnSpPr>
        <p:spPr>
          <a:xfrm rot="10800000">
            <a:off x="5715000" y="34671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5" name="Google Shape;465;p42"/>
          <p:cNvCxnSpPr/>
          <p:nvPr/>
        </p:nvCxnSpPr>
        <p:spPr>
          <a:xfrm rot="10800000">
            <a:off x="5715000" y="40576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6" name="Google Shape;466;p42"/>
          <p:cNvCxnSpPr/>
          <p:nvPr/>
        </p:nvCxnSpPr>
        <p:spPr>
          <a:xfrm rot="10800000">
            <a:off x="5715000" y="46482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7" name="Google Shape;467;p42"/>
          <p:cNvCxnSpPr/>
          <p:nvPr/>
        </p:nvCxnSpPr>
        <p:spPr>
          <a:xfrm>
            <a:off x="3810000" y="11620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8" name="Google Shape;468;p42"/>
          <p:cNvCxnSpPr/>
          <p:nvPr/>
        </p:nvCxnSpPr>
        <p:spPr>
          <a:xfrm>
            <a:off x="3810000" y="17335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9" name="Google Shape;469;p42"/>
          <p:cNvCxnSpPr/>
          <p:nvPr/>
        </p:nvCxnSpPr>
        <p:spPr>
          <a:xfrm>
            <a:off x="3810000" y="23241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0" name="Google Shape;470;p42"/>
          <p:cNvCxnSpPr/>
          <p:nvPr/>
        </p:nvCxnSpPr>
        <p:spPr>
          <a:xfrm>
            <a:off x="3810000" y="28956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1" name="Google Shape;471;p42"/>
          <p:cNvCxnSpPr/>
          <p:nvPr/>
        </p:nvCxnSpPr>
        <p:spPr>
          <a:xfrm>
            <a:off x="3810000" y="3516441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2" name="Google Shape;472;p42"/>
          <p:cNvCxnSpPr/>
          <p:nvPr/>
        </p:nvCxnSpPr>
        <p:spPr>
          <a:xfrm>
            <a:off x="3810000" y="4080132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3" name="Google Shape;473;p42"/>
          <p:cNvCxnSpPr/>
          <p:nvPr/>
        </p:nvCxnSpPr>
        <p:spPr>
          <a:xfrm>
            <a:off x="3810000" y="46482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4" name="Google Shape;474;p42"/>
          <p:cNvCxnSpPr/>
          <p:nvPr/>
        </p:nvCxnSpPr>
        <p:spPr>
          <a:xfrm>
            <a:off x="4343400" y="11620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" name="Google Shape;475;p42"/>
          <p:cNvCxnSpPr/>
          <p:nvPr/>
        </p:nvCxnSpPr>
        <p:spPr>
          <a:xfrm>
            <a:off x="4343400" y="17335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6" name="Google Shape;476;p42"/>
          <p:cNvCxnSpPr/>
          <p:nvPr/>
        </p:nvCxnSpPr>
        <p:spPr>
          <a:xfrm>
            <a:off x="4343400" y="23241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42"/>
          <p:cNvCxnSpPr/>
          <p:nvPr/>
        </p:nvCxnSpPr>
        <p:spPr>
          <a:xfrm>
            <a:off x="4343400" y="28956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42"/>
          <p:cNvCxnSpPr/>
          <p:nvPr/>
        </p:nvCxnSpPr>
        <p:spPr>
          <a:xfrm>
            <a:off x="4343400" y="3516441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42"/>
          <p:cNvCxnSpPr/>
          <p:nvPr/>
        </p:nvCxnSpPr>
        <p:spPr>
          <a:xfrm>
            <a:off x="4343400" y="40576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0" name="Google Shape;480;p42"/>
          <p:cNvCxnSpPr/>
          <p:nvPr/>
        </p:nvCxnSpPr>
        <p:spPr>
          <a:xfrm>
            <a:off x="4343400" y="46482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" name="Google Shape;481;p42"/>
          <p:cNvCxnSpPr/>
          <p:nvPr/>
        </p:nvCxnSpPr>
        <p:spPr>
          <a:xfrm>
            <a:off x="4800600" y="34671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2" name="Google Shape;482;p42"/>
          <p:cNvCxnSpPr/>
          <p:nvPr/>
        </p:nvCxnSpPr>
        <p:spPr>
          <a:xfrm>
            <a:off x="4800600" y="40576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3" name="Google Shape;483;p42"/>
          <p:cNvCxnSpPr/>
          <p:nvPr/>
        </p:nvCxnSpPr>
        <p:spPr>
          <a:xfrm>
            <a:off x="5334000" y="405765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4" name="Google Shape;484;p42"/>
          <p:cNvCxnSpPr/>
          <p:nvPr/>
        </p:nvCxnSpPr>
        <p:spPr>
          <a:xfrm>
            <a:off x="4800600" y="46482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42"/>
          <p:cNvCxnSpPr/>
          <p:nvPr/>
        </p:nvCxnSpPr>
        <p:spPr>
          <a:xfrm>
            <a:off x="5334000" y="46482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" name="Google Shape;486;p42"/>
          <p:cNvCxnSpPr/>
          <p:nvPr/>
        </p:nvCxnSpPr>
        <p:spPr>
          <a:xfrm>
            <a:off x="5867400" y="4648200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7" name="Google Shape;487;p42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88" name="Google Shape;488;p42"/>
          <p:cNvGraphicFramePr/>
          <p:nvPr/>
        </p:nvGraphicFramePr>
        <p:xfrm>
          <a:off x="266700" y="-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{9BE92DA1-1416-4A9D-8824-CFE182A58F91}</a:tableStyleId>
              </a:tblPr>
              <a:tblGrid>
                <a:gridCol w="1274775"/>
                <a:gridCol w="1562100"/>
                <a:gridCol w="4054475"/>
                <a:gridCol w="1719250"/>
              </a:tblGrid>
              <a:tr h="494000"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66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sng" cap="none" strike="noStrike">
                          <a:solidFill>
                            <a:srgbClr val="00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66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sng" cap="none" strike="noStrike">
                          <a:solidFill>
                            <a:srgbClr val="00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Configuration 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66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sng" cap="none" strike="noStrike">
                          <a:solidFill>
                            <a:srgbClr val="00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notation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66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sng" cap="none" strike="noStrike">
                          <a:solidFill>
                            <a:srgbClr val="00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Orbital notation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66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sng" cap="none" strike="noStrike">
                          <a:solidFill>
                            <a:srgbClr val="00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Noble gas </a:t>
                      </a:r>
                      <a:endParaRPr sz="1100"/>
                    </a:p>
                    <a:p>
                      <a:pPr indent="-254000" lvl="0" marL="254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66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sng" cap="none" strike="noStrike">
                          <a:solidFill>
                            <a:srgbClr val="00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notation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500"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Lithium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</a:t>
                      </a:r>
                      <a:endParaRPr sz="1100"/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____     ____     ____     ____     ____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1s         2s                      2p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[He]2s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500"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Beryllium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endParaRPr sz="1100"/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____     ____     ____     ____     ____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1s         2s                      2p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[He]2s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500"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Boron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endParaRPr sz="1100"/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____     ____     ____     ____     ____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1s         2s                      2p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[He]2s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500"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Carbon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endParaRPr sz="1100"/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____     ____     ____     ____     ____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1s         2s                      2p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[He]2s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lang="en-US" sz="1100">
                          <a:solidFill>
                            <a:srgbClr val="0C0C0C"/>
                          </a:solidFill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500"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Nitrogen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endParaRPr sz="1100"/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____     ____     ____     ____     ____                      </a:t>
                      </a:r>
                      <a:endParaRPr sz="1100"/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1s         2s                      2p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[He]2s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lang="en-US" sz="1100">
                          <a:solidFill>
                            <a:srgbClr val="0C0C0C"/>
                          </a:solidFill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500"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Oxygen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endParaRPr sz="1100"/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____     ____     ____     ____     ____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1s         2s                      2p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[He]2s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lang="en-US" sz="1100">
                          <a:solidFill>
                            <a:srgbClr val="0C0C0C"/>
                          </a:solidFill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500"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Fluorine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endParaRPr sz="1100"/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____     ____     ____     ____     ____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1s         2s                      2p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[He]2s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lang="en-US" sz="1100">
                          <a:solidFill>
                            <a:srgbClr val="0C0C0C"/>
                          </a:solidFill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500"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Neon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endParaRPr sz="1100"/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____     ____     ____     ____     ____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1s         2s                      2p</a:t>
                      </a:r>
                      <a:endParaRPr sz="1100"/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[He]2s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lang="en-US" sz="1100">
                          <a:solidFill>
                            <a:srgbClr val="0C0C0C"/>
                          </a:solidFill>
                        </a:rPr>
                        <a:t>2</a:t>
                      </a:r>
                      <a:r>
                        <a:rPr b="1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1" baseline="30000" i="0" lang="en-US" sz="11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b="1" i="0" sz="1100" u="none" cap="none" strike="noStrike">
                        <a:solidFill>
                          <a:srgbClr val="0C0C0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9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3"/>
          <p:cNvSpPr/>
          <p:nvPr/>
        </p:nvSpPr>
        <p:spPr>
          <a:xfrm flipH="1" rot="10800000">
            <a:off x="1871254" y="2367629"/>
            <a:ext cx="1332600" cy="167100"/>
          </a:xfrm>
          <a:prstGeom prst="trapezoid">
            <a:avLst>
              <a:gd fmla="val 98250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3"/>
          <p:cNvSpPr/>
          <p:nvPr/>
        </p:nvSpPr>
        <p:spPr>
          <a:xfrm flipH="1" rot="10800000">
            <a:off x="1368404" y="2374309"/>
            <a:ext cx="322200" cy="180600"/>
          </a:xfrm>
          <a:prstGeom prst="trapezoid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3"/>
          <p:cNvSpPr/>
          <p:nvPr/>
        </p:nvSpPr>
        <p:spPr>
          <a:xfrm flipH="1" rot="10800000">
            <a:off x="865549" y="2374304"/>
            <a:ext cx="322200" cy="1806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3"/>
          <p:cNvSpPr/>
          <p:nvPr/>
        </p:nvSpPr>
        <p:spPr>
          <a:xfrm flipH="1" rot="10800000">
            <a:off x="3364118" y="2367052"/>
            <a:ext cx="322200" cy="180600"/>
          </a:xfrm>
          <a:prstGeom prst="trapezoid">
            <a:avLst>
              <a:gd fmla="val 25000" name="adj"/>
            </a:avLst>
          </a:prstGeom>
          <a:solidFill>
            <a:srgbClr val="00997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3"/>
          <p:cNvSpPr/>
          <p:nvPr/>
        </p:nvSpPr>
        <p:spPr>
          <a:xfrm flipH="1" rot="10800000">
            <a:off x="5301775" y="2359795"/>
            <a:ext cx="322200" cy="180600"/>
          </a:xfrm>
          <a:prstGeom prst="trapezoid">
            <a:avLst>
              <a:gd fmla="val 25000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3"/>
          <p:cNvSpPr/>
          <p:nvPr/>
        </p:nvSpPr>
        <p:spPr>
          <a:xfrm flipH="1" rot="10800000">
            <a:off x="3808911" y="2360372"/>
            <a:ext cx="1332600" cy="167100"/>
          </a:xfrm>
          <a:prstGeom prst="trapezoid">
            <a:avLst>
              <a:gd fmla="val 98250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"/>
          <p:cNvSpPr/>
          <p:nvPr/>
        </p:nvSpPr>
        <p:spPr>
          <a:xfrm flipH="1" rot="10800000">
            <a:off x="5877203" y="2353051"/>
            <a:ext cx="2444400" cy="182100"/>
          </a:xfrm>
          <a:prstGeom prst="trapezoid">
            <a:avLst>
              <a:gd fmla="val 98250" name="adj"/>
            </a:avLst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3"/>
          <p:cNvSpPr txBox="1"/>
          <p:nvPr>
            <p:ph type="title"/>
          </p:nvPr>
        </p:nvSpPr>
        <p:spPr>
          <a:xfrm>
            <a:off x="685800" y="1524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electron configuration to complete the spin diagram</a:t>
            </a:r>
            <a:endParaRPr/>
          </a:p>
        </p:txBody>
      </p:sp>
      <p:sp>
        <p:nvSpPr>
          <p:cNvPr id="502" name="Google Shape;502;p43"/>
          <p:cNvSpPr txBox="1"/>
          <p:nvPr>
            <p:ph idx="1" type="body"/>
          </p:nvPr>
        </p:nvSpPr>
        <p:spPr>
          <a:xfrm>
            <a:off x="685800" y="1140200"/>
            <a:ext cx="7772400" cy="69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1s</a:t>
            </a:r>
            <a:r>
              <a:rPr baseline="30000" lang="en-US"/>
              <a:t>2</a:t>
            </a:r>
            <a:r>
              <a:rPr lang="en-US"/>
              <a:t>2s</a:t>
            </a:r>
            <a:r>
              <a:rPr baseline="30000" lang="en-US"/>
              <a:t>2</a:t>
            </a:r>
            <a:r>
              <a:rPr lang="en-US"/>
              <a:t>2p</a:t>
            </a:r>
            <a:r>
              <a:rPr baseline="30000" lang="en-US"/>
              <a:t>6</a:t>
            </a:r>
            <a:r>
              <a:rPr lang="en-US"/>
              <a:t>3s</a:t>
            </a:r>
            <a:r>
              <a:rPr baseline="30000" lang="en-US"/>
              <a:t>2</a:t>
            </a:r>
            <a:r>
              <a:rPr lang="en-US"/>
              <a:t>3p</a:t>
            </a:r>
            <a:r>
              <a:rPr baseline="30000" lang="en-US"/>
              <a:t>6</a:t>
            </a:r>
            <a:r>
              <a:rPr lang="en-US"/>
              <a:t>4s</a:t>
            </a:r>
            <a:r>
              <a:rPr baseline="30000" lang="en-US"/>
              <a:t>2</a:t>
            </a:r>
            <a:r>
              <a:rPr lang="en-US"/>
              <a:t>3d</a:t>
            </a:r>
            <a:r>
              <a:rPr baseline="30000" lang="en-US"/>
              <a:t>7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4" name="Google Shape;504;p43"/>
          <p:cNvSpPr txBox="1"/>
          <p:nvPr/>
        </p:nvSpPr>
        <p:spPr>
          <a:xfrm>
            <a:off x="406389" y="1901379"/>
            <a:ext cx="8066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C0C0C"/>
                </a:solidFill>
              </a:rPr>
              <a:t>  </a:t>
            </a:r>
            <a:endParaRPr sz="1100">
              <a:solidFill>
                <a:schemeClr val="dk1"/>
              </a:solidFill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C0C0C"/>
                </a:solidFill>
              </a:rPr>
              <a:t>          ____     ____     ____     ____     ____</a:t>
            </a:r>
            <a:r>
              <a:rPr b="1" lang="en-US" sz="1100">
                <a:solidFill>
                  <a:srgbClr val="0C0C0C"/>
                </a:solidFill>
              </a:rPr>
              <a:t>    ____    ____    ____     ____     ____        ____     ____     ____     ____     ____</a:t>
            </a:r>
            <a:endParaRPr b="1" sz="1100">
              <a:solidFill>
                <a:srgbClr val="0C0C0C"/>
              </a:solidFill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C0C0C"/>
                </a:solidFill>
              </a:rPr>
              <a:t>            1s         2s                      2p</a:t>
            </a:r>
            <a:r>
              <a:rPr b="1" lang="en-US" sz="1100">
                <a:solidFill>
                  <a:srgbClr val="0C0C0C"/>
                </a:solidFill>
              </a:rPr>
              <a:t>   		     3s    	     3p                       4s    	    		   3d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505" name="Google Shape;505;p43"/>
          <p:cNvCxnSpPr/>
          <p:nvPr/>
        </p:nvCxnSpPr>
        <p:spPr>
          <a:xfrm rot="10800000">
            <a:off x="948275" y="1998200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43"/>
          <p:cNvCxnSpPr/>
          <p:nvPr/>
        </p:nvCxnSpPr>
        <p:spPr>
          <a:xfrm>
            <a:off x="1093400" y="1983607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43"/>
          <p:cNvCxnSpPr/>
          <p:nvPr/>
        </p:nvCxnSpPr>
        <p:spPr>
          <a:xfrm rot="10800000">
            <a:off x="1449018" y="2019971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43"/>
          <p:cNvCxnSpPr/>
          <p:nvPr/>
        </p:nvCxnSpPr>
        <p:spPr>
          <a:xfrm>
            <a:off x="1594143" y="1990864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43"/>
          <p:cNvCxnSpPr/>
          <p:nvPr/>
        </p:nvCxnSpPr>
        <p:spPr>
          <a:xfrm rot="10800000">
            <a:off x="1964275" y="2012714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43"/>
          <p:cNvCxnSpPr/>
          <p:nvPr/>
        </p:nvCxnSpPr>
        <p:spPr>
          <a:xfrm rot="10800000">
            <a:off x="2465018" y="2019971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43"/>
          <p:cNvCxnSpPr/>
          <p:nvPr/>
        </p:nvCxnSpPr>
        <p:spPr>
          <a:xfrm rot="10800000">
            <a:off x="2965761" y="2027229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2" name="Google Shape;512;p43"/>
          <p:cNvCxnSpPr/>
          <p:nvPr/>
        </p:nvCxnSpPr>
        <p:spPr>
          <a:xfrm>
            <a:off x="2123914" y="1998121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p43"/>
          <p:cNvCxnSpPr/>
          <p:nvPr/>
        </p:nvCxnSpPr>
        <p:spPr>
          <a:xfrm>
            <a:off x="2610143" y="1990864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4" name="Google Shape;514;p43"/>
          <p:cNvCxnSpPr/>
          <p:nvPr/>
        </p:nvCxnSpPr>
        <p:spPr>
          <a:xfrm>
            <a:off x="3110886" y="2012636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43"/>
          <p:cNvCxnSpPr/>
          <p:nvPr/>
        </p:nvCxnSpPr>
        <p:spPr>
          <a:xfrm rot="10800000">
            <a:off x="3437475" y="2005457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43"/>
          <p:cNvCxnSpPr/>
          <p:nvPr/>
        </p:nvCxnSpPr>
        <p:spPr>
          <a:xfrm>
            <a:off x="3597114" y="1990864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43"/>
          <p:cNvCxnSpPr/>
          <p:nvPr/>
        </p:nvCxnSpPr>
        <p:spPr>
          <a:xfrm rot="10800000">
            <a:off x="3916446" y="2019971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43"/>
          <p:cNvCxnSpPr/>
          <p:nvPr/>
        </p:nvCxnSpPr>
        <p:spPr>
          <a:xfrm rot="10800000">
            <a:off x="4417189" y="2027229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43"/>
          <p:cNvCxnSpPr/>
          <p:nvPr/>
        </p:nvCxnSpPr>
        <p:spPr>
          <a:xfrm rot="10800000">
            <a:off x="4917932" y="2034486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43"/>
          <p:cNvCxnSpPr/>
          <p:nvPr/>
        </p:nvCxnSpPr>
        <p:spPr>
          <a:xfrm>
            <a:off x="4047057" y="2005379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1" name="Google Shape;521;p43"/>
          <p:cNvCxnSpPr/>
          <p:nvPr/>
        </p:nvCxnSpPr>
        <p:spPr>
          <a:xfrm>
            <a:off x="4533286" y="1998121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2" name="Google Shape;522;p43"/>
          <p:cNvCxnSpPr/>
          <p:nvPr/>
        </p:nvCxnSpPr>
        <p:spPr>
          <a:xfrm>
            <a:off x="5034028" y="2019893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43"/>
          <p:cNvCxnSpPr/>
          <p:nvPr/>
        </p:nvCxnSpPr>
        <p:spPr>
          <a:xfrm rot="10800000">
            <a:off x="5375132" y="1998200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4" name="Google Shape;524;p43"/>
          <p:cNvCxnSpPr/>
          <p:nvPr/>
        </p:nvCxnSpPr>
        <p:spPr>
          <a:xfrm>
            <a:off x="5534771" y="1983607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5" name="Google Shape;525;p43"/>
          <p:cNvCxnSpPr/>
          <p:nvPr/>
        </p:nvCxnSpPr>
        <p:spPr>
          <a:xfrm rot="10800000">
            <a:off x="5991989" y="2034486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6" name="Google Shape;526;p43"/>
          <p:cNvCxnSpPr/>
          <p:nvPr/>
        </p:nvCxnSpPr>
        <p:spPr>
          <a:xfrm>
            <a:off x="6151628" y="2019893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43"/>
          <p:cNvCxnSpPr/>
          <p:nvPr/>
        </p:nvCxnSpPr>
        <p:spPr>
          <a:xfrm rot="10800000">
            <a:off x="6521761" y="2056257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8" name="Google Shape;528;p43"/>
          <p:cNvCxnSpPr/>
          <p:nvPr/>
        </p:nvCxnSpPr>
        <p:spPr>
          <a:xfrm>
            <a:off x="6681400" y="2041664"/>
            <a:ext cx="72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9" name="Google Shape;529;p43"/>
          <p:cNvCxnSpPr/>
          <p:nvPr/>
        </p:nvCxnSpPr>
        <p:spPr>
          <a:xfrm rot="10800000">
            <a:off x="7044275" y="2027229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0" name="Google Shape;530;p43"/>
          <p:cNvCxnSpPr/>
          <p:nvPr/>
        </p:nvCxnSpPr>
        <p:spPr>
          <a:xfrm rot="10800000">
            <a:off x="7545018" y="2034486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1" name="Google Shape;531;p43"/>
          <p:cNvCxnSpPr/>
          <p:nvPr/>
        </p:nvCxnSpPr>
        <p:spPr>
          <a:xfrm rot="10800000">
            <a:off x="8045760" y="2041743"/>
            <a:ext cx="0" cy="27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4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C0C0C"/>
                </a:solidFill>
              </a:rPr>
              <a:t>Electron configuration of the elements of the first three series</a:t>
            </a:r>
            <a:endParaRPr/>
          </a:p>
        </p:txBody>
      </p:sp>
      <p:pic>
        <p:nvPicPr>
          <p:cNvPr descr="configs.gif" id="538" name="Google Shape;53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575" y="1318097"/>
            <a:ext cx="6800850" cy="262175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4"/>
          <p:cNvSpPr txBox="1"/>
          <p:nvPr/>
        </p:nvSpPr>
        <p:spPr>
          <a:xfrm>
            <a:off x="0" y="4171950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This pattern works for the first </a:t>
            </a:r>
            <a:r>
              <a:rPr b="1" i="0" lang="en-US" sz="3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elements</a:t>
            </a:r>
            <a:endParaRPr/>
          </a:p>
        </p:txBody>
      </p:sp>
      <p:sp>
        <p:nvSpPr>
          <p:cNvPr id="540" name="Google Shape;540;p44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5"/>
          <p:cNvSpPr txBox="1"/>
          <p:nvPr>
            <p:ph type="ctrTitle"/>
          </p:nvPr>
        </p:nvSpPr>
        <p:spPr>
          <a:xfrm>
            <a:off x="0" y="1570375"/>
            <a:ext cx="51891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17365D"/>
                </a:solidFill>
              </a:rPr>
              <a:t>Valence </a:t>
            </a:r>
            <a:br>
              <a:rPr lang="en-US" sz="6000">
                <a:solidFill>
                  <a:srgbClr val="17365D"/>
                </a:solidFill>
              </a:rPr>
            </a:br>
            <a:r>
              <a:rPr lang="en-US" sz="6000">
                <a:solidFill>
                  <a:srgbClr val="17365D"/>
                </a:solidFill>
              </a:rPr>
              <a:t>Electrons:</a:t>
            </a:r>
            <a:endParaRPr sz="6000">
              <a:solidFill>
                <a:srgbClr val="17365D"/>
              </a:solidFill>
            </a:endParaRPr>
          </a:p>
        </p:txBody>
      </p:sp>
      <p:pic>
        <p:nvPicPr>
          <p:cNvPr descr="Einsteinium.png" id="546" name="Google Shape;54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9328" y="342900"/>
            <a:ext cx="3927874" cy="4221957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5"/>
          <p:cNvSpPr txBox="1"/>
          <p:nvPr/>
        </p:nvSpPr>
        <p:spPr>
          <a:xfrm>
            <a:off x="1032461" y="3209544"/>
            <a:ext cx="31242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0000"/>
                </a:solidFill>
              </a:rPr>
              <a:t>ELECTRONS AVAILABLE FOR BONDING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6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Definition</a:t>
            </a:r>
            <a:endParaRPr>
              <a:solidFill>
                <a:srgbClr val="0C0C0C"/>
              </a:solidFill>
            </a:endParaRPr>
          </a:p>
        </p:txBody>
      </p:sp>
      <p:sp>
        <p:nvSpPr>
          <p:cNvPr id="553" name="Google Shape;553;p46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None/>
            </a:pPr>
            <a:r>
              <a:rPr b="1" lang="en-US" sz="3600" u="sng">
                <a:solidFill>
                  <a:srgbClr val="006600"/>
                </a:solidFill>
              </a:rPr>
              <a:t>Valence electrons</a:t>
            </a:r>
            <a:r>
              <a:rPr b="1" lang="en-US" sz="3600">
                <a:solidFill>
                  <a:srgbClr val="006600"/>
                </a:solidFill>
              </a:rPr>
              <a:t> are electrons in the outermost shell (energy level). </a:t>
            </a:r>
            <a:br>
              <a:rPr b="1" lang="en-US" sz="3600">
                <a:solidFill>
                  <a:srgbClr val="006600"/>
                </a:solidFill>
              </a:rPr>
            </a:br>
            <a:r>
              <a:rPr b="1" lang="en-US" sz="3600">
                <a:solidFill>
                  <a:srgbClr val="006600"/>
                </a:solidFill>
              </a:rPr>
              <a:t>They are the electrons available for bonding.</a:t>
            </a:r>
            <a:endParaRPr b="1" sz="3600">
              <a:solidFill>
                <a:srgbClr val="006600"/>
              </a:solidFill>
            </a:endParaRPr>
          </a:p>
        </p:txBody>
      </p:sp>
      <p:sp>
        <p:nvSpPr>
          <p:cNvPr id="554" name="Google Shape;554;p46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iodic_Table.png" id="559" name="Google Shape;55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750" y="0"/>
            <a:ext cx="6266500" cy="51435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60" name="Google Shape;560;p47"/>
          <p:cNvGrpSpPr/>
          <p:nvPr/>
        </p:nvGrpSpPr>
        <p:grpSpPr>
          <a:xfrm>
            <a:off x="1752600" y="342900"/>
            <a:ext cx="4572000" cy="2857500"/>
            <a:chOff x="990600" y="342900"/>
            <a:chExt cx="4572000" cy="2857500"/>
          </a:xfrm>
        </p:grpSpPr>
        <p:sp>
          <p:nvSpPr>
            <p:cNvPr id="561" name="Google Shape;561;p47"/>
            <p:cNvSpPr txBox="1"/>
            <p:nvPr/>
          </p:nvSpPr>
          <p:spPr>
            <a:xfrm>
              <a:off x="1981200" y="457200"/>
              <a:ext cx="3581400" cy="724500"/>
            </a:xfrm>
            <a:prstGeom prst="rect">
              <a:avLst/>
            </a:prstGeom>
            <a:solidFill>
              <a:srgbClr val="FFFF00"/>
            </a:solidFill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Group 1 (alkali metals) have </a:t>
              </a:r>
              <a:r>
                <a:rPr b="1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valence electron</a:t>
              </a:r>
              <a:endParaRPr/>
            </a:p>
          </p:txBody>
        </p:sp>
        <p:sp>
          <p:nvSpPr>
            <p:cNvPr id="562" name="Google Shape;562;p47"/>
            <p:cNvSpPr/>
            <p:nvPr/>
          </p:nvSpPr>
          <p:spPr>
            <a:xfrm>
              <a:off x="990600" y="342900"/>
              <a:ext cx="381000" cy="2857500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3" name="Google Shape;563;p47"/>
            <p:cNvCxnSpPr/>
            <p:nvPr/>
          </p:nvCxnSpPr>
          <p:spPr>
            <a:xfrm rot="10800000">
              <a:off x="1371600" y="571491"/>
              <a:ext cx="609600" cy="12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64" name="Google Shape;564;p47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iodic_Table.png" id="569" name="Google Shape;56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750" y="0"/>
            <a:ext cx="6266500" cy="51435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70" name="Google Shape;570;p48"/>
          <p:cNvGrpSpPr/>
          <p:nvPr/>
        </p:nvGrpSpPr>
        <p:grpSpPr>
          <a:xfrm>
            <a:off x="2057400" y="628650"/>
            <a:ext cx="4191000" cy="2229000"/>
            <a:chOff x="1371600" y="628650"/>
            <a:chExt cx="4191000" cy="2229000"/>
          </a:xfrm>
        </p:grpSpPr>
        <p:sp>
          <p:nvSpPr>
            <p:cNvPr id="571" name="Google Shape;571;p48"/>
            <p:cNvSpPr txBox="1"/>
            <p:nvPr/>
          </p:nvSpPr>
          <p:spPr>
            <a:xfrm>
              <a:off x="1981200" y="628650"/>
              <a:ext cx="3581400" cy="687600"/>
            </a:xfrm>
            <a:prstGeom prst="rect">
              <a:avLst/>
            </a:prstGeom>
            <a:solidFill>
              <a:srgbClr val="FFFF00"/>
            </a:solidFill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Group 2 (alkaline earth metals) have </a:t>
              </a:r>
              <a:r>
                <a:rPr b="1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valence electrons</a:t>
              </a:r>
              <a:endParaRPr/>
            </a:p>
          </p:txBody>
        </p:sp>
        <p:sp>
          <p:nvSpPr>
            <p:cNvPr id="572" name="Google Shape;572;p48"/>
            <p:cNvSpPr/>
            <p:nvPr/>
          </p:nvSpPr>
          <p:spPr>
            <a:xfrm>
              <a:off x="1371600" y="742950"/>
              <a:ext cx="381000" cy="2114700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3" name="Google Shape;573;p48"/>
            <p:cNvCxnSpPr>
              <a:stCxn id="571" idx="1"/>
            </p:cNvCxnSpPr>
            <p:nvPr/>
          </p:nvCxnSpPr>
          <p:spPr>
            <a:xfrm flipH="1">
              <a:off x="1752600" y="972450"/>
              <a:ext cx="228600" cy="201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74" name="Google Shape;574;p48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iodic_Table.png" id="579" name="Google Shape;57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750" y="0"/>
            <a:ext cx="6266500" cy="51435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80" name="Google Shape;580;p49"/>
          <p:cNvGrpSpPr/>
          <p:nvPr/>
        </p:nvGrpSpPr>
        <p:grpSpPr>
          <a:xfrm>
            <a:off x="1600200" y="571500"/>
            <a:ext cx="4191000" cy="2228850"/>
            <a:chOff x="1981200" y="571500"/>
            <a:chExt cx="4191000" cy="2228850"/>
          </a:xfrm>
        </p:grpSpPr>
        <p:sp>
          <p:nvSpPr>
            <p:cNvPr id="581" name="Google Shape;581;p49"/>
            <p:cNvSpPr txBox="1"/>
            <p:nvPr/>
          </p:nvSpPr>
          <p:spPr>
            <a:xfrm>
              <a:off x="1981200" y="571500"/>
              <a:ext cx="3581400" cy="690900"/>
            </a:xfrm>
            <a:prstGeom prst="rect">
              <a:avLst/>
            </a:prstGeom>
            <a:solidFill>
              <a:srgbClr val="FFFF00"/>
            </a:solidFill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Group 13 elements have </a:t>
              </a:r>
              <a:r>
                <a:rPr b="1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valence electrons</a:t>
              </a:r>
              <a:endParaRPr/>
            </a:p>
          </p:txBody>
        </p:sp>
        <p:sp>
          <p:nvSpPr>
            <p:cNvPr id="582" name="Google Shape;582;p49"/>
            <p:cNvSpPr/>
            <p:nvPr/>
          </p:nvSpPr>
          <p:spPr>
            <a:xfrm>
              <a:off x="5791200" y="742950"/>
              <a:ext cx="381000" cy="2057400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3" name="Google Shape;583;p49"/>
            <p:cNvCxnSpPr>
              <a:stCxn id="581" idx="3"/>
            </p:cNvCxnSpPr>
            <p:nvPr/>
          </p:nvCxnSpPr>
          <p:spPr>
            <a:xfrm>
              <a:off x="5562600" y="916950"/>
              <a:ext cx="228600" cy="201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84" name="Google Shape;584;p49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iodic_Table.png" id="589" name="Google Shape;58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750" y="0"/>
            <a:ext cx="6266500" cy="51435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90" name="Google Shape;590;p50"/>
          <p:cNvGrpSpPr/>
          <p:nvPr/>
        </p:nvGrpSpPr>
        <p:grpSpPr>
          <a:xfrm>
            <a:off x="1524000" y="571500"/>
            <a:ext cx="4572000" cy="2286000"/>
            <a:chOff x="1524000" y="571500"/>
            <a:chExt cx="4572000" cy="2286000"/>
          </a:xfrm>
        </p:grpSpPr>
        <p:sp>
          <p:nvSpPr>
            <p:cNvPr id="591" name="Google Shape;591;p50"/>
            <p:cNvSpPr txBox="1"/>
            <p:nvPr/>
          </p:nvSpPr>
          <p:spPr>
            <a:xfrm>
              <a:off x="1524000" y="571500"/>
              <a:ext cx="3581400" cy="758100"/>
            </a:xfrm>
            <a:prstGeom prst="rect">
              <a:avLst/>
            </a:prstGeom>
            <a:solidFill>
              <a:srgbClr val="FFFF00"/>
            </a:solidFill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Group 14 elements have </a:t>
              </a:r>
              <a:r>
                <a:rPr b="1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valence electrons</a:t>
              </a:r>
              <a:endParaRPr/>
            </a:p>
          </p:txBody>
        </p:sp>
        <p:sp>
          <p:nvSpPr>
            <p:cNvPr id="592" name="Google Shape;592;p50"/>
            <p:cNvSpPr/>
            <p:nvPr/>
          </p:nvSpPr>
          <p:spPr>
            <a:xfrm>
              <a:off x="5715000" y="685800"/>
              <a:ext cx="381000" cy="2171700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3" name="Google Shape;593;p50"/>
            <p:cNvCxnSpPr>
              <a:stCxn id="591" idx="3"/>
            </p:cNvCxnSpPr>
            <p:nvPr/>
          </p:nvCxnSpPr>
          <p:spPr>
            <a:xfrm>
              <a:off x="5105400" y="950550"/>
              <a:ext cx="609600" cy="201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94" name="Google Shape;594;p50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iodic_Table.png" id="599" name="Google Shape;59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750" y="0"/>
            <a:ext cx="6266500" cy="51435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600" name="Google Shape;600;p51"/>
          <p:cNvGrpSpPr/>
          <p:nvPr/>
        </p:nvGrpSpPr>
        <p:grpSpPr>
          <a:xfrm>
            <a:off x="1371600" y="571500"/>
            <a:ext cx="5029200" cy="2286000"/>
            <a:chOff x="1981200" y="571500"/>
            <a:chExt cx="5029200" cy="2286000"/>
          </a:xfrm>
        </p:grpSpPr>
        <p:sp>
          <p:nvSpPr>
            <p:cNvPr id="601" name="Google Shape;601;p51"/>
            <p:cNvSpPr txBox="1"/>
            <p:nvPr/>
          </p:nvSpPr>
          <p:spPr>
            <a:xfrm>
              <a:off x="1981200" y="571500"/>
              <a:ext cx="3581400" cy="677400"/>
            </a:xfrm>
            <a:prstGeom prst="rect">
              <a:avLst/>
            </a:prstGeom>
            <a:solidFill>
              <a:srgbClr val="FFFF00"/>
            </a:solidFill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Group 15 elements have </a:t>
              </a:r>
              <a:r>
                <a:rPr b="1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valence electrons</a:t>
              </a:r>
              <a:endParaRPr/>
            </a:p>
          </p:txBody>
        </p:sp>
        <p:sp>
          <p:nvSpPr>
            <p:cNvPr id="602" name="Google Shape;602;p51"/>
            <p:cNvSpPr/>
            <p:nvPr/>
          </p:nvSpPr>
          <p:spPr>
            <a:xfrm>
              <a:off x="6553200" y="685800"/>
              <a:ext cx="457200" cy="2171700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3" name="Google Shape;603;p51"/>
            <p:cNvCxnSpPr>
              <a:stCxn id="601" idx="3"/>
            </p:cNvCxnSpPr>
            <p:nvPr/>
          </p:nvCxnSpPr>
          <p:spPr>
            <a:xfrm>
              <a:off x="5562600" y="910200"/>
              <a:ext cx="990600" cy="1347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4" name="Google Shape;604;p51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iodic_Table.png" id="609" name="Google Shape;60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750" y="0"/>
            <a:ext cx="6266500" cy="51435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610" name="Google Shape;610;p52"/>
          <p:cNvGrpSpPr/>
          <p:nvPr/>
        </p:nvGrpSpPr>
        <p:grpSpPr>
          <a:xfrm>
            <a:off x="1295400" y="571500"/>
            <a:ext cx="5410200" cy="2286000"/>
            <a:chOff x="1981200" y="571500"/>
            <a:chExt cx="5410200" cy="2286000"/>
          </a:xfrm>
        </p:grpSpPr>
        <p:sp>
          <p:nvSpPr>
            <p:cNvPr id="611" name="Google Shape;611;p52"/>
            <p:cNvSpPr txBox="1"/>
            <p:nvPr/>
          </p:nvSpPr>
          <p:spPr>
            <a:xfrm>
              <a:off x="1981200" y="571500"/>
              <a:ext cx="3581400" cy="677400"/>
            </a:xfrm>
            <a:prstGeom prst="rect">
              <a:avLst/>
            </a:prstGeom>
            <a:solidFill>
              <a:srgbClr val="FFFF00"/>
            </a:solidFill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Group 16 elements have </a:t>
              </a:r>
              <a:r>
                <a:rPr b="1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valence electrons</a:t>
              </a:r>
              <a:endParaRPr/>
            </a:p>
          </p:txBody>
        </p:sp>
        <p:sp>
          <p:nvSpPr>
            <p:cNvPr id="612" name="Google Shape;612;p52"/>
            <p:cNvSpPr/>
            <p:nvPr/>
          </p:nvSpPr>
          <p:spPr>
            <a:xfrm>
              <a:off x="6934200" y="685800"/>
              <a:ext cx="457200" cy="2171700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3" name="Google Shape;613;p52"/>
            <p:cNvCxnSpPr>
              <a:stCxn id="611" idx="3"/>
            </p:cNvCxnSpPr>
            <p:nvPr/>
          </p:nvCxnSpPr>
          <p:spPr>
            <a:xfrm>
              <a:off x="5562600" y="910200"/>
              <a:ext cx="1371600" cy="1917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4" name="Google Shape;614;p52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iodic_Table.png" id="619" name="Google Shape;61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750" y="0"/>
            <a:ext cx="6266500" cy="51435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620" name="Google Shape;620;p53"/>
          <p:cNvGrpSpPr/>
          <p:nvPr/>
        </p:nvGrpSpPr>
        <p:grpSpPr>
          <a:xfrm>
            <a:off x="1219200" y="571500"/>
            <a:ext cx="5791200" cy="2286000"/>
            <a:chOff x="1981200" y="571500"/>
            <a:chExt cx="5791200" cy="2286000"/>
          </a:xfrm>
        </p:grpSpPr>
        <p:sp>
          <p:nvSpPr>
            <p:cNvPr id="621" name="Google Shape;621;p53"/>
            <p:cNvSpPr txBox="1"/>
            <p:nvPr/>
          </p:nvSpPr>
          <p:spPr>
            <a:xfrm>
              <a:off x="1981200" y="571500"/>
              <a:ext cx="3581400" cy="677400"/>
            </a:xfrm>
            <a:prstGeom prst="rect">
              <a:avLst/>
            </a:prstGeom>
            <a:solidFill>
              <a:srgbClr val="FFFF00"/>
            </a:solidFill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Group 17 (halogens) have </a:t>
              </a:r>
              <a:r>
                <a:rPr b="1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valence electrons</a:t>
              </a:r>
              <a:endParaRPr/>
            </a:p>
          </p:txBody>
        </p:sp>
        <p:sp>
          <p:nvSpPr>
            <p:cNvPr id="622" name="Google Shape;622;p53"/>
            <p:cNvSpPr/>
            <p:nvPr/>
          </p:nvSpPr>
          <p:spPr>
            <a:xfrm>
              <a:off x="7391400" y="685800"/>
              <a:ext cx="381000" cy="2171700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3" name="Google Shape;623;p53"/>
            <p:cNvCxnSpPr>
              <a:stCxn id="621" idx="3"/>
            </p:cNvCxnSpPr>
            <p:nvPr/>
          </p:nvCxnSpPr>
          <p:spPr>
            <a:xfrm>
              <a:off x="5562600" y="910200"/>
              <a:ext cx="1828800" cy="3060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24" name="Google Shape;624;p5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iodic_Table.png" id="629" name="Google Shape;62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750" y="0"/>
            <a:ext cx="6266500" cy="51435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630" name="Google Shape;630;p54"/>
          <p:cNvGrpSpPr/>
          <p:nvPr/>
        </p:nvGrpSpPr>
        <p:grpSpPr>
          <a:xfrm>
            <a:off x="1143000" y="342900"/>
            <a:ext cx="6172200" cy="2514600"/>
            <a:chOff x="1981200" y="342900"/>
            <a:chExt cx="6172200" cy="2514600"/>
          </a:xfrm>
        </p:grpSpPr>
        <p:sp>
          <p:nvSpPr>
            <p:cNvPr id="631" name="Google Shape;631;p54"/>
            <p:cNvSpPr txBox="1"/>
            <p:nvPr/>
          </p:nvSpPr>
          <p:spPr>
            <a:xfrm>
              <a:off x="1981200" y="571500"/>
              <a:ext cx="3581400" cy="972900"/>
            </a:xfrm>
            <a:prstGeom prst="rect">
              <a:avLst/>
            </a:prstGeom>
            <a:solidFill>
              <a:srgbClr val="FFFF00"/>
            </a:solidFill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Group 18 (Noble gases) have </a:t>
              </a:r>
              <a:r>
                <a:rPr b="1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valence electrons, </a:t>
              </a:r>
              <a:r>
                <a:rPr b="1" i="1" lang="en-US" sz="2000" u="sng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except helium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which has only </a:t>
              </a:r>
              <a:r>
                <a:rPr b="1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632" name="Google Shape;632;p54"/>
            <p:cNvSpPr/>
            <p:nvPr/>
          </p:nvSpPr>
          <p:spPr>
            <a:xfrm>
              <a:off x="7772400" y="342900"/>
              <a:ext cx="381000" cy="2514600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3" name="Google Shape;633;p54"/>
            <p:cNvCxnSpPr>
              <a:stCxn id="631" idx="3"/>
            </p:cNvCxnSpPr>
            <p:nvPr/>
          </p:nvCxnSpPr>
          <p:spPr>
            <a:xfrm>
              <a:off x="5562600" y="1057950"/>
              <a:ext cx="2209800" cy="1905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4" name="Google Shape;634;p54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iodic_Table.png" id="639" name="Google Shape;63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751" y="0"/>
            <a:ext cx="6266500" cy="51435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40" name="Google Shape;640;p55"/>
          <p:cNvSpPr txBox="1"/>
          <p:nvPr/>
        </p:nvSpPr>
        <p:spPr>
          <a:xfrm>
            <a:off x="5257800" y="1485900"/>
            <a:ext cx="3581400" cy="3393300"/>
          </a:xfrm>
          <a:prstGeom prst="rect">
            <a:avLst/>
          </a:prstGeom>
          <a:solidFill>
            <a:srgbClr val="FFFF00"/>
          </a:solidFill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1500" u="sng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electron configuration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transition metals predicted by the simple </a:t>
            </a:r>
            <a:r>
              <a:rPr b="1" i="0" lang="en-US" sz="1500" u="sng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Aufbau principle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1500" u="sng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Madelung's rule</a:t>
            </a:r>
            <a:r>
              <a:rPr b="1" i="0" lang="en-US" sz="1500" u="none" cap="none" strike="noStrike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serious conflicts with experimental observations for </a:t>
            </a:r>
            <a:r>
              <a:rPr b="1" i="0" lang="en-US" sz="1500" u="sng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transition metal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centers under most ambient conditions. Under most conditions all of the valence electrons of a transition metal center are located in d orbitals while the standard model of </a:t>
            </a:r>
            <a:r>
              <a:rPr b="1" i="0" lang="en-US" sz="1500" u="sng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electron configuration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would predict some of them to be in the pertinent s orbital.- wikipedia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641" name="Google Shape;641;p55"/>
          <p:cNvSpPr/>
          <p:nvPr/>
        </p:nvSpPr>
        <p:spPr>
          <a:xfrm rot="-5400000">
            <a:off x="3707900" y="-460350"/>
            <a:ext cx="400200" cy="3035100"/>
          </a:xfrm>
          <a:prstGeom prst="rightBrace">
            <a:avLst>
              <a:gd fmla="val 8331" name="adj1"/>
              <a:gd fmla="val 50000" name="adj2"/>
            </a:avLst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5"/>
          <p:cNvSpPr txBox="1"/>
          <p:nvPr/>
        </p:nvSpPr>
        <p:spPr>
          <a:xfrm>
            <a:off x="1918015" y="1115861"/>
            <a:ext cx="35553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5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iodic_Table.png" id="648" name="Google Shape;64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750" y="0"/>
            <a:ext cx="6266500" cy="51435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49" name="Google Shape;649;p56"/>
          <p:cNvSpPr txBox="1"/>
          <p:nvPr/>
        </p:nvSpPr>
        <p:spPr>
          <a:xfrm>
            <a:off x="5352025" y="910350"/>
            <a:ext cx="3581400" cy="1023600"/>
          </a:xfrm>
          <a:prstGeom prst="rect">
            <a:avLst/>
          </a:prstGeom>
          <a:solidFill>
            <a:srgbClr val="FFFF00"/>
          </a:solidFill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Lanthanides and actinides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(“f” block) have </a:t>
            </a:r>
            <a:r>
              <a:rPr b="1"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???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valence electrons</a:t>
            </a:r>
            <a:endParaRPr/>
          </a:p>
        </p:txBody>
      </p:sp>
      <p:cxnSp>
        <p:nvCxnSpPr>
          <p:cNvPr id="650" name="Google Shape;650;p56"/>
          <p:cNvCxnSpPr>
            <a:stCxn id="649" idx="2"/>
            <a:endCxn id="651" idx="0"/>
          </p:cNvCxnSpPr>
          <p:nvPr/>
        </p:nvCxnSpPr>
        <p:spPr>
          <a:xfrm flipH="1">
            <a:off x="4850725" y="1933950"/>
            <a:ext cx="2292000" cy="10950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1" name="Google Shape;651;p56"/>
          <p:cNvSpPr/>
          <p:nvPr/>
        </p:nvSpPr>
        <p:spPr>
          <a:xfrm>
            <a:off x="2148350" y="3028950"/>
            <a:ext cx="5404500" cy="8574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6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7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8" name="Google Shape;658;p57"/>
          <p:cNvSpPr txBox="1"/>
          <p:nvPr>
            <p:ph type="title"/>
          </p:nvPr>
        </p:nvSpPr>
        <p:spPr>
          <a:xfrm>
            <a:off x="685800" y="-50292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In Practice</a:t>
            </a:r>
            <a:endParaRPr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7"/>
          <p:cNvSpPr txBox="1"/>
          <p:nvPr>
            <p:ph idx="1" type="body"/>
          </p:nvPr>
        </p:nvSpPr>
        <p:spPr>
          <a:xfrm>
            <a:off x="685800" y="978408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None/>
            </a:pPr>
            <a:r>
              <a:rPr lang="en-US" sz="3000" u="sng">
                <a:solidFill>
                  <a:srgbClr val="006600"/>
                </a:solidFill>
                <a:latin typeface="Georgia"/>
                <a:ea typeface="Georgia"/>
                <a:cs typeface="Georgia"/>
                <a:sym typeface="Georgia"/>
              </a:rPr>
              <a:t>Valence electrons</a:t>
            </a:r>
            <a:r>
              <a:rPr lang="en-US" sz="3000">
                <a:solidFill>
                  <a:srgbClr val="006600"/>
                </a:solidFill>
                <a:latin typeface="Georgia"/>
                <a:ea typeface="Georgia"/>
                <a:cs typeface="Georgia"/>
                <a:sym typeface="Georgia"/>
              </a:rPr>
              <a:t> are the electrons in the s and p </a:t>
            </a:r>
            <a:r>
              <a:rPr lang="en-US" sz="3000">
                <a:solidFill>
                  <a:srgbClr val="006600"/>
                </a:solidFill>
                <a:latin typeface="Georgia"/>
                <a:ea typeface="Georgia"/>
                <a:cs typeface="Georgia"/>
                <a:sym typeface="Georgia"/>
              </a:rPr>
              <a:t>sub-shell</a:t>
            </a:r>
            <a:r>
              <a:rPr lang="en-US" sz="3000">
                <a:solidFill>
                  <a:srgbClr val="006600"/>
                </a:solidFill>
                <a:latin typeface="Georgia"/>
                <a:ea typeface="Georgia"/>
                <a:cs typeface="Georgia"/>
                <a:sym typeface="Georgia"/>
              </a:rPr>
              <a:t>s of the outermost shell </a:t>
            </a:r>
            <a:r>
              <a:rPr b="1" lang="en-US" sz="3000">
                <a:solidFill>
                  <a:srgbClr val="006600"/>
                </a:solidFill>
                <a:latin typeface="Georgia"/>
                <a:ea typeface="Georgia"/>
                <a:cs typeface="Georgia"/>
                <a:sym typeface="Georgia"/>
              </a:rPr>
              <a:t>only</a:t>
            </a:r>
            <a:r>
              <a:rPr lang="en-US" sz="3000">
                <a:solidFill>
                  <a:srgbClr val="00660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3000">
              <a:solidFill>
                <a:srgbClr val="0066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None/>
            </a:pPr>
            <a:r>
              <a:rPr lang="en-US" sz="3000">
                <a:solidFill>
                  <a:srgbClr val="006600"/>
                </a:solidFill>
                <a:latin typeface="Georgia"/>
                <a:ea typeface="Georgia"/>
                <a:cs typeface="Georgia"/>
                <a:sym typeface="Georgia"/>
              </a:rPr>
              <a:t>This is a simplified model and does not fit all observed atomic behavior, but will work for our purposes</a:t>
            </a:r>
            <a:endParaRPr sz="3000">
              <a:solidFill>
                <a:srgbClr val="0066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None/>
            </a:pPr>
            <a:r>
              <a:rPr lang="en-US" sz="3000">
                <a:solidFill>
                  <a:srgbClr val="006600"/>
                </a:solidFill>
                <a:latin typeface="Georgia"/>
                <a:ea typeface="Georgia"/>
                <a:cs typeface="Georgia"/>
                <a:sym typeface="Georgia"/>
              </a:rPr>
              <a:t>Elements in the same </a:t>
            </a:r>
            <a:r>
              <a:rPr b="1" lang="en-US" sz="3000">
                <a:solidFill>
                  <a:srgbClr val="006600"/>
                </a:solidFill>
                <a:latin typeface="Georgia"/>
                <a:ea typeface="Georgia"/>
                <a:cs typeface="Georgia"/>
                <a:sym typeface="Georgia"/>
              </a:rPr>
              <a:t>group</a:t>
            </a:r>
            <a:r>
              <a:rPr lang="en-US" sz="3000">
                <a:solidFill>
                  <a:srgbClr val="006600"/>
                </a:solidFill>
                <a:latin typeface="Georgia"/>
                <a:ea typeface="Georgia"/>
                <a:cs typeface="Georgia"/>
                <a:sym typeface="Georgia"/>
              </a:rPr>
              <a:t> have the same number of valence electrons and thus have similar chemical properties</a:t>
            </a:r>
            <a:endParaRPr sz="3000">
              <a:solidFill>
                <a:srgbClr val="0066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8"/>
          <p:cNvSpPr txBox="1"/>
          <p:nvPr>
            <p:ph type="title"/>
          </p:nvPr>
        </p:nvSpPr>
        <p:spPr>
          <a:xfrm>
            <a:off x="685800" y="108857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Dot Notations</a:t>
            </a:r>
            <a:endParaRPr/>
          </a:p>
        </p:txBody>
      </p:sp>
      <p:sp>
        <p:nvSpPr>
          <p:cNvPr id="665" name="Google Shape;665;p58"/>
          <p:cNvSpPr txBox="1"/>
          <p:nvPr/>
        </p:nvSpPr>
        <p:spPr>
          <a:xfrm>
            <a:off x="457200" y="666750"/>
            <a:ext cx="83058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An atom’s valence electrons can be represented by Lewis dot notations.</a:t>
            </a:r>
            <a:endParaRPr/>
          </a:p>
        </p:txBody>
      </p:sp>
      <p:graphicFrame>
        <p:nvGraphicFramePr>
          <p:cNvPr id="666" name="Google Shape;666;p58"/>
          <p:cNvGraphicFramePr/>
          <p:nvPr/>
        </p:nvGraphicFramePr>
        <p:xfrm>
          <a:off x="609600" y="1543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{A199FBE3-7747-4EAC-A1E9-842E0F6D81C5}</a:tableStyleId>
              </a:tblPr>
              <a:tblGrid>
                <a:gridCol w="2019300"/>
                <a:gridCol w="2019300"/>
                <a:gridCol w="2019300"/>
                <a:gridCol w="2019300"/>
              </a:tblGrid>
              <a:tr h="1628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1 valence e</a:t>
                      </a:r>
                      <a:r>
                        <a:rPr b="1" baseline="30000" lang="en-US" sz="1500" u="none" cap="none" strike="noStrike">
                          <a:solidFill>
                            <a:srgbClr val="C00000"/>
                          </a:solidFill>
                        </a:rPr>
                        <a:t>-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0" u="none" cap="none" strike="noStrike"/>
                        <a:t>X</a:t>
                      </a:r>
                      <a:endParaRPr b="1" sz="66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2 valence e</a:t>
                      </a:r>
                      <a:r>
                        <a:rPr b="1" baseline="30000" lang="en-US" sz="1500" u="none" cap="none" strike="noStrike">
                          <a:solidFill>
                            <a:srgbClr val="C00000"/>
                          </a:solidFill>
                        </a:rPr>
                        <a:t>-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600"/>
                        <a:buFont typeface="Calibri"/>
                        <a:buNone/>
                      </a:pPr>
                      <a:r>
                        <a:rPr b="1" lang="en-US" sz="6600" u="none" cap="none" strike="noStrike"/>
                        <a:t>X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3 valence e</a:t>
                      </a:r>
                      <a:r>
                        <a:rPr b="1" baseline="30000" lang="en-US" sz="1500" u="none" cap="none" strike="noStrike">
                          <a:solidFill>
                            <a:srgbClr val="C00000"/>
                          </a:solidFill>
                        </a:rPr>
                        <a:t>-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600"/>
                        <a:buFont typeface="Calibri"/>
                        <a:buNone/>
                      </a:pPr>
                      <a:r>
                        <a:rPr b="1" lang="en-US" sz="6600" u="none" cap="none" strike="noStrike"/>
                        <a:t>X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4 valence e</a:t>
                      </a:r>
                      <a:r>
                        <a:rPr b="1" baseline="30000" lang="en-US" sz="1500" u="none" cap="none" strike="noStrike">
                          <a:solidFill>
                            <a:srgbClr val="C00000"/>
                          </a:solidFill>
                        </a:rPr>
                        <a:t>-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600"/>
                        <a:buFont typeface="Calibri"/>
                        <a:buNone/>
                      </a:pPr>
                      <a:r>
                        <a:rPr b="1" lang="en-US" sz="6600" u="none" cap="none" strike="noStrike"/>
                        <a:t>X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5 valence e</a:t>
                      </a:r>
                      <a:r>
                        <a:rPr b="1" baseline="30000" lang="en-US" sz="1500" u="none" cap="none" strike="noStrike">
                          <a:solidFill>
                            <a:srgbClr val="C00000"/>
                          </a:solidFill>
                        </a:rPr>
                        <a:t>-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600"/>
                        <a:buFont typeface="Calibri"/>
                        <a:buNone/>
                      </a:pPr>
                      <a:r>
                        <a:rPr b="1" lang="en-US" sz="6600" u="none" cap="none" strike="noStrike"/>
                        <a:t>X</a:t>
                      </a:r>
                      <a:endParaRPr sz="11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6 valence e</a:t>
                      </a:r>
                      <a:r>
                        <a:rPr b="1" baseline="30000" lang="en-US" sz="1500" u="none" cap="none" strike="noStrike">
                          <a:solidFill>
                            <a:srgbClr val="C00000"/>
                          </a:solidFill>
                        </a:rPr>
                        <a:t>-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600"/>
                        <a:buFont typeface="Calibri"/>
                        <a:buNone/>
                      </a:pPr>
                      <a:r>
                        <a:rPr b="1" lang="en-US" sz="6600" u="none" cap="none" strike="noStrike"/>
                        <a:t>X</a:t>
                      </a:r>
                      <a:endParaRPr sz="11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7 valence e</a:t>
                      </a:r>
                      <a:r>
                        <a:rPr b="1" baseline="30000" lang="en-US" sz="1500" u="none" cap="none" strike="noStrike">
                          <a:solidFill>
                            <a:srgbClr val="C00000"/>
                          </a:solidFill>
                        </a:rPr>
                        <a:t>-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600"/>
                        <a:buFont typeface="Calibri"/>
                        <a:buNone/>
                      </a:pPr>
                      <a:r>
                        <a:rPr b="1" lang="en-US" sz="6600" u="none" cap="none" strike="noStrike"/>
                        <a:t>X</a:t>
                      </a:r>
                      <a:endParaRPr sz="11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8 valence e</a:t>
                      </a:r>
                      <a:r>
                        <a:rPr b="1" baseline="30000" lang="en-US" sz="1500" u="none" cap="none" strike="noStrike">
                          <a:solidFill>
                            <a:srgbClr val="C00000"/>
                          </a:solidFill>
                        </a:rPr>
                        <a:t>-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600"/>
                        <a:buFont typeface="Calibri"/>
                        <a:buNone/>
                      </a:pPr>
                      <a:r>
                        <a:rPr b="1" lang="en-US" sz="6600" u="none" cap="none" strike="noStrike"/>
                        <a:t>X</a:t>
                      </a:r>
                      <a:endParaRPr sz="11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7" name="Google Shape;667;p58"/>
          <p:cNvSpPr/>
          <p:nvPr/>
        </p:nvSpPr>
        <p:spPr>
          <a:xfrm>
            <a:off x="1981200" y="22288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8"/>
          <p:cNvSpPr/>
          <p:nvPr/>
        </p:nvSpPr>
        <p:spPr>
          <a:xfrm>
            <a:off x="4038600" y="22288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8"/>
          <p:cNvSpPr/>
          <p:nvPr/>
        </p:nvSpPr>
        <p:spPr>
          <a:xfrm>
            <a:off x="3048000" y="22288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8"/>
          <p:cNvSpPr/>
          <p:nvPr/>
        </p:nvSpPr>
        <p:spPr>
          <a:xfrm>
            <a:off x="6019800" y="22288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8"/>
          <p:cNvSpPr/>
          <p:nvPr/>
        </p:nvSpPr>
        <p:spPr>
          <a:xfrm>
            <a:off x="5105400" y="22288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8"/>
          <p:cNvSpPr/>
          <p:nvPr/>
        </p:nvSpPr>
        <p:spPr>
          <a:xfrm>
            <a:off x="5562600" y="18859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58"/>
          <p:cNvSpPr/>
          <p:nvPr/>
        </p:nvSpPr>
        <p:spPr>
          <a:xfrm>
            <a:off x="8077200" y="22288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58"/>
          <p:cNvSpPr/>
          <p:nvPr/>
        </p:nvSpPr>
        <p:spPr>
          <a:xfrm>
            <a:off x="7086600" y="22288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58"/>
          <p:cNvSpPr/>
          <p:nvPr/>
        </p:nvSpPr>
        <p:spPr>
          <a:xfrm>
            <a:off x="7620000" y="18859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58"/>
          <p:cNvSpPr/>
          <p:nvPr/>
        </p:nvSpPr>
        <p:spPr>
          <a:xfrm>
            <a:off x="7620000" y="26860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8"/>
          <p:cNvSpPr/>
          <p:nvPr/>
        </p:nvSpPr>
        <p:spPr>
          <a:xfrm>
            <a:off x="1524000" y="34861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58"/>
          <p:cNvSpPr/>
          <p:nvPr/>
        </p:nvSpPr>
        <p:spPr>
          <a:xfrm>
            <a:off x="1066800" y="38290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8"/>
          <p:cNvSpPr/>
          <p:nvPr/>
        </p:nvSpPr>
        <p:spPr>
          <a:xfrm>
            <a:off x="1524000" y="43434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8"/>
          <p:cNvSpPr/>
          <p:nvPr/>
        </p:nvSpPr>
        <p:spPr>
          <a:xfrm>
            <a:off x="1981200" y="37147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8"/>
          <p:cNvSpPr/>
          <p:nvPr/>
        </p:nvSpPr>
        <p:spPr>
          <a:xfrm>
            <a:off x="1981200" y="40005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8"/>
          <p:cNvSpPr/>
          <p:nvPr/>
        </p:nvSpPr>
        <p:spPr>
          <a:xfrm>
            <a:off x="4038600" y="37147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8"/>
          <p:cNvSpPr/>
          <p:nvPr/>
        </p:nvSpPr>
        <p:spPr>
          <a:xfrm>
            <a:off x="4038600" y="40005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58"/>
          <p:cNvSpPr/>
          <p:nvPr/>
        </p:nvSpPr>
        <p:spPr>
          <a:xfrm>
            <a:off x="3048000" y="37147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58"/>
          <p:cNvSpPr/>
          <p:nvPr/>
        </p:nvSpPr>
        <p:spPr>
          <a:xfrm>
            <a:off x="3048000" y="40005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58"/>
          <p:cNvSpPr/>
          <p:nvPr/>
        </p:nvSpPr>
        <p:spPr>
          <a:xfrm>
            <a:off x="3581400" y="34861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8"/>
          <p:cNvSpPr/>
          <p:nvPr/>
        </p:nvSpPr>
        <p:spPr>
          <a:xfrm>
            <a:off x="3581400" y="42862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8"/>
          <p:cNvSpPr/>
          <p:nvPr/>
        </p:nvSpPr>
        <p:spPr>
          <a:xfrm>
            <a:off x="6019800" y="37147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8"/>
          <p:cNvSpPr/>
          <p:nvPr/>
        </p:nvSpPr>
        <p:spPr>
          <a:xfrm>
            <a:off x="6019800" y="40005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8"/>
          <p:cNvSpPr/>
          <p:nvPr/>
        </p:nvSpPr>
        <p:spPr>
          <a:xfrm>
            <a:off x="5105400" y="37147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8"/>
          <p:cNvSpPr/>
          <p:nvPr/>
        </p:nvSpPr>
        <p:spPr>
          <a:xfrm>
            <a:off x="5105400" y="40005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8"/>
          <p:cNvSpPr/>
          <p:nvPr/>
        </p:nvSpPr>
        <p:spPr>
          <a:xfrm>
            <a:off x="5410200" y="34861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8"/>
          <p:cNvSpPr/>
          <p:nvPr/>
        </p:nvSpPr>
        <p:spPr>
          <a:xfrm>
            <a:off x="5715000" y="34861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8"/>
          <p:cNvSpPr/>
          <p:nvPr/>
        </p:nvSpPr>
        <p:spPr>
          <a:xfrm>
            <a:off x="5410200" y="42862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8"/>
          <p:cNvSpPr/>
          <p:nvPr/>
        </p:nvSpPr>
        <p:spPr>
          <a:xfrm>
            <a:off x="8001000" y="37147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58"/>
          <p:cNvSpPr/>
          <p:nvPr/>
        </p:nvSpPr>
        <p:spPr>
          <a:xfrm>
            <a:off x="8001000" y="40005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8"/>
          <p:cNvSpPr/>
          <p:nvPr/>
        </p:nvSpPr>
        <p:spPr>
          <a:xfrm>
            <a:off x="7391400" y="34861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58"/>
          <p:cNvSpPr/>
          <p:nvPr/>
        </p:nvSpPr>
        <p:spPr>
          <a:xfrm>
            <a:off x="7696200" y="34861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8"/>
          <p:cNvSpPr/>
          <p:nvPr/>
        </p:nvSpPr>
        <p:spPr>
          <a:xfrm>
            <a:off x="7086600" y="37147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8"/>
          <p:cNvSpPr/>
          <p:nvPr/>
        </p:nvSpPr>
        <p:spPr>
          <a:xfrm>
            <a:off x="7086600" y="40005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58"/>
          <p:cNvSpPr/>
          <p:nvPr/>
        </p:nvSpPr>
        <p:spPr>
          <a:xfrm>
            <a:off x="7391400" y="43434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8"/>
          <p:cNvSpPr/>
          <p:nvPr/>
        </p:nvSpPr>
        <p:spPr>
          <a:xfrm>
            <a:off x="7696200" y="43434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8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9"/>
          <p:cNvSpPr txBox="1"/>
          <p:nvPr>
            <p:ph type="title"/>
          </p:nvPr>
        </p:nvSpPr>
        <p:spPr>
          <a:xfrm>
            <a:off x="685800" y="-7257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0"/>
              <a:t>Dot Notations – Period 2</a:t>
            </a:r>
            <a:endParaRPr sz="3960"/>
          </a:p>
        </p:txBody>
      </p:sp>
      <p:sp>
        <p:nvSpPr>
          <p:cNvPr id="709" name="Google Shape;709;p59"/>
          <p:cNvSpPr txBox="1"/>
          <p:nvPr/>
        </p:nvSpPr>
        <p:spPr>
          <a:xfrm>
            <a:off x="457200" y="666750"/>
            <a:ext cx="83058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Lewis dot notations for the valence electrons of the elements of Period 2.</a:t>
            </a:r>
            <a:endParaRPr/>
          </a:p>
        </p:txBody>
      </p:sp>
      <p:graphicFrame>
        <p:nvGraphicFramePr>
          <p:cNvPr id="710" name="Google Shape;710;p59"/>
          <p:cNvGraphicFramePr/>
          <p:nvPr/>
        </p:nvGraphicFramePr>
        <p:xfrm>
          <a:off x="609600" y="1543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{A199FBE3-7747-4EAC-A1E9-842E0F6D81C5}</a:tableStyleId>
              </a:tblPr>
              <a:tblGrid>
                <a:gridCol w="2019300"/>
                <a:gridCol w="2019300"/>
                <a:gridCol w="2019300"/>
                <a:gridCol w="2019300"/>
              </a:tblGrid>
              <a:tr h="1628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lithium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400" u="none" cap="none" strike="noStrike"/>
                        <a:t>Li</a:t>
                      </a:r>
                      <a:endParaRPr b="1" sz="5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beryllium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Calibri"/>
                        <a:buNone/>
                      </a:pPr>
                      <a:r>
                        <a:rPr b="1" lang="en-US" sz="5400" u="none" cap="none" strike="noStrike"/>
                        <a:t>Be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boron</a:t>
                      </a:r>
                      <a:endParaRPr sz="11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Calibri"/>
                        <a:buNone/>
                      </a:pPr>
                      <a:r>
                        <a:rPr b="1" lang="en-US" sz="5400" u="none" cap="none" strike="noStrike"/>
                        <a:t>B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carbon</a:t>
                      </a:r>
                      <a:endParaRPr sz="11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Calibri"/>
                        <a:buNone/>
                      </a:pPr>
                      <a:r>
                        <a:rPr b="1" lang="en-US" sz="5400" u="none" cap="none" strike="noStrike"/>
                        <a:t>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nitrogen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Calibri"/>
                        <a:buNone/>
                      </a:pPr>
                      <a:r>
                        <a:rPr b="1" lang="en-US" sz="5400" u="none" cap="none" strike="noStrike"/>
                        <a:t>N</a:t>
                      </a:r>
                      <a:endParaRPr sz="11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oxygen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Calibri"/>
                        <a:buNone/>
                      </a:pPr>
                      <a:r>
                        <a:rPr b="1" lang="en-US" sz="5400" u="none" cap="none" strike="noStrike"/>
                        <a:t>O</a:t>
                      </a:r>
                      <a:endParaRPr sz="11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fluorine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Calibri"/>
                        <a:buNone/>
                      </a:pPr>
                      <a:r>
                        <a:rPr b="1" lang="en-US" sz="5400" u="none" cap="none" strike="noStrike"/>
                        <a:t>F</a:t>
                      </a:r>
                      <a:endParaRPr sz="11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C00000"/>
                          </a:solidFill>
                        </a:rPr>
                        <a:t>neon</a:t>
                      </a:r>
                      <a:endParaRPr b="1" sz="1500" u="none" cap="none" strike="noStrike">
                        <a:solidFill>
                          <a:srgbClr val="C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Calibri"/>
                        <a:buNone/>
                      </a:pPr>
                      <a:r>
                        <a:rPr b="1" lang="en-US" sz="5400" u="none" cap="none" strike="noStrike"/>
                        <a:t>Ne</a:t>
                      </a:r>
                      <a:endParaRPr sz="11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1" name="Google Shape;711;p59"/>
          <p:cNvSpPr/>
          <p:nvPr/>
        </p:nvSpPr>
        <p:spPr>
          <a:xfrm>
            <a:off x="1981200" y="21717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59"/>
          <p:cNvSpPr/>
          <p:nvPr/>
        </p:nvSpPr>
        <p:spPr>
          <a:xfrm>
            <a:off x="4191000" y="21717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59"/>
          <p:cNvSpPr/>
          <p:nvPr/>
        </p:nvSpPr>
        <p:spPr>
          <a:xfrm>
            <a:off x="2895600" y="21717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59"/>
          <p:cNvSpPr/>
          <p:nvPr/>
        </p:nvSpPr>
        <p:spPr>
          <a:xfrm>
            <a:off x="6019800" y="21717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59"/>
          <p:cNvSpPr/>
          <p:nvPr/>
        </p:nvSpPr>
        <p:spPr>
          <a:xfrm>
            <a:off x="5105400" y="21717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59"/>
          <p:cNvSpPr/>
          <p:nvPr/>
        </p:nvSpPr>
        <p:spPr>
          <a:xfrm>
            <a:off x="5562600" y="18288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9"/>
          <p:cNvSpPr/>
          <p:nvPr/>
        </p:nvSpPr>
        <p:spPr>
          <a:xfrm>
            <a:off x="8001000" y="21717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59"/>
          <p:cNvSpPr/>
          <p:nvPr/>
        </p:nvSpPr>
        <p:spPr>
          <a:xfrm>
            <a:off x="7162800" y="21717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9"/>
          <p:cNvSpPr/>
          <p:nvPr/>
        </p:nvSpPr>
        <p:spPr>
          <a:xfrm>
            <a:off x="7620000" y="18288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59"/>
          <p:cNvSpPr/>
          <p:nvPr/>
        </p:nvSpPr>
        <p:spPr>
          <a:xfrm>
            <a:off x="7620000" y="25717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9"/>
          <p:cNvSpPr/>
          <p:nvPr/>
        </p:nvSpPr>
        <p:spPr>
          <a:xfrm>
            <a:off x="1600200" y="34290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9"/>
          <p:cNvSpPr/>
          <p:nvPr/>
        </p:nvSpPr>
        <p:spPr>
          <a:xfrm>
            <a:off x="1066800" y="37719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9"/>
          <p:cNvSpPr/>
          <p:nvPr/>
        </p:nvSpPr>
        <p:spPr>
          <a:xfrm>
            <a:off x="1600200" y="41719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59"/>
          <p:cNvSpPr/>
          <p:nvPr/>
        </p:nvSpPr>
        <p:spPr>
          <a:xfrm>
            <a:off x="1905000" y="36576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9"/>
          <p:cNvSpPr/>
          <p:nvPr/>
        </p:nvSpPr>
        <p:spPr>
          <a:xfrm>
            <a:off x="1905000" y="39433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9"/>
          <p:cNvSpPr/>
          <p:nvPr/>
        </p:nvSpPr>
        <p:spPr>
          <a:xfrm>
            <a:off x="3962400" y="36576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9"/>
          <p:cNvSpPr/>
          <p:nvPr/>
        </p:nvSpPr>
        <p:spPr>
          <a:xfrm>
            <a:off x="3962400" y="39433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9"/>
          <p:cNvSpPr/>
          <p:nvPr/>
        </p:nvSpPr>
        <p:spPr>
          <a:xfrm>
            <a:off x="3200400" y="36576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3200400" y="39433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3581400" y="34290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3581400" y="41719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943600" y="36576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943600" y="39433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5181600" y="36576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5181600" y="39433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5410200" y="34290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5715000" y="34290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59"/>
          <p:cNvSpPr/>
          <p:nvPr/>
        </p:nvSpPr>
        <p:spPr>
          <a:xfrm>
            <a:off x="5410200" y="41719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59"/>
          <p:cNvSpPr/>
          <p:nvPr/>
        </p:nvSpPr>
        <p:spPr>
          <a:xfrm>
            <a:off x="8153400" y="36576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59"/>
          <p:cNvSpPr/>
          <p:nvPr/>
        </p:nvSpPr>
        <p:spPr>
          <a:xfrm>
            <a:off x="8153400" y="39433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59"/>
          <p:cNvSpPr/>
          <p:nvPr/>
        </p:nvSpPr>
        <p:spPr>
          <a:xfrm>
            <a:off x="7467600" y="34290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9"/>
          <p:cNvSpPr/>
          <p:nvPr/>
        </p:nvSpPr>
        <p:spPr>
          <a:xfrm>
            <a:off x="7772400" y="34290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59"/>
          <p:cNvSpPr/>
          <p:nvPr/>
        </p:nvSpPr>
        <p:spPr>
          <a:xfrm>
            <a:off x="7086600" y="365760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59"/>
          <p:cNvSpPr/>
          <p:nvPr/>
        </p:nvSpPr>
        <p:spPr>
          <a:xfrm>
            <a:off x="7086600" y="39433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59"/>
          <p:cNvSpPr/>
          <p:nvPr/>
        </p:nvSpPr>
        <p:spPr>
          <a:xfrm>
            <a:off x="7467600" y="41719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9"/>
          <p:cNvSpPr/>
          <p:nvPr/>
        </p:nvSpPr>
        <p:spPr>
          <a:xfrm>
            <a:off x="7772400" y="4171950"/>
            <a:ext cx="152400" cy="1143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59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0"/>
          <p:cNvSpPr/>
          <p:nvPr/>
        </p:nvSpPr>
        <p:spPr>
          <a:xfrm>
            <a:off x="838200" y="1485900"/>
            <a:ext cx="7620000" cy="2714700"/>
          </a:xfrm>
          <a:prstGeom prst="bevel">
            <a:avLst>
              <a:gd fmla="val 12500" name="adj"/>
            </a:avLst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14299">
              <a:srgbClr val="000000">
                <a:alpha val="3961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Comic Sans MS"/>
              <a:buNone/>
            </a:pPr>
            <a:r>
              <a:rPr b="1" i="0" lang="en-US" sz="2400" u="none" cap="none" strike="noStrike">
                <a:solidFill>
                  <a:srgbClr val="0D0D0D"/>
                </a:solidFill>
                <a:latin typeface="Comic Sans MS"/>
                <a:ea typeface="Comic Sans MS"/>
                <a:cs typeface="Comic Sans MS"/>
                <a:sym typeface="Comic Sans MS"/>
              </a:rPr>
              <a:t>“No familiar conceptions can be woven around the electron. Something unknown is doing we don’t know what.”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Comic Sans MS"/>
              <a:buNone/>
            </a:pPr>
            <a:r>
              <a:rPr b="1" i="0" lang="en-US" sz="2400" u="none" cap="none" strike="noStrike">
                <a:solidFill>
                  <a:srgbClr val="0D0D0D"/>
                </a:solidFill>
              </a:rPr>
              <a:t>-Sir Arthur Eddington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Comic Sans MS"/>
              <a:buNone/>
            </a:pPr>
            <a:r>
              <a:rPr b="1" i="0" lang="en-US" sz="1800" u="none" cap="none" strike="noStrike">
                <a:solidFill>
                  <a:srgbClr val="0D0D0D"/>
                </a:solidFill>
              </a:rPr>
              <a:t>The Nature of the Physical World (1934)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0D0D0D"/>
              </a:solidFill>
            </a:endParaRPr>
          </a:p>
        </p:txBody>
      </p:sp>
      <p:sp>
        <p:nvSpPr>
          <p:cNvPr id="753" name="Google Shape;753;p60"/>
          <p:cNvSpPr txBox="1"/>
          <p:nvPr>
            <p:ph type="ctrTitle"/>
          </p:nvPr>
        </p:nvSpPr>
        <p:spPr>
          <a:xfrm>
            <a:off x="685800" y="291533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4000"/>
              <a:buFont typeface="Comic Sans MS"/>
              <a:buNone/>
            </a:pPr>
            <a:r>
              <a:rPr i="0" lang="en-US" sz="4000" u="sng">
                <a:solidFill>
                  <a:srgbClr val="000066"/>
                </a:solidFill>
              </a:rPr>
              <a:t>The ELECTRON:</a:t>
            </a:r>
            <a:br>
              <a:rPr i="0" lang="en-US" sz="4000" u="sng">
                <a:solidFill>
                  <a:srgbClr val="000066"/>
                </a:solidFill>
              </a:rPr>
            </a:br>
            <a:r>
              <a:rPr i="0" lang="en-US" sz="4000" u="sng">
                <a:solidFill>
                  <a:srgbClr val="000066"/>
                </a:solidFill>
              </a:rPr>
              <a:t>Wave – Particle Duality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1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i="0" lang="en-US" sz="3600" u="none">
                <a:solidFill>
                  <a:schemeClr val="dk1"/>
                </a:solidFill>
              </a:rPr>
              <a:t>The Dilemma of the Atom</a:t>
            </a:r>
            <a:endParaRPr/>
          </a:p>
        </p:txBody>
      </p:sp>
      <p:sp>
        <p:nvSpPr>
          <p:cNvPr id="759" name="Google Shape;759;p61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16165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1599">
              <a:srgbClr val="000000">
                <a:alpha val="3961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i="0" lang="en-US" sz="3200" u="none" cap="none" strike="noStrike">
                <a:solidFill>
                  <a:schemeClr val="dk1"/>
                </a:solidFill>
              </a:rPr>
              <a:t>Electrons outside the nucleus are attracted to the protons in the nucleus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i="0" lang="en-US" sz="3200" u="none" cap="none" strike="noStrike">
                <a:solidFill>
                  <a:schemeClr val="dk1"/>
                </a:solidFill>
              </a:rPr>
              <a:t>Charged particles moving in curved paths lose energy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i="0" lang="en-US" sz="3200" u="sng" cap="none" strike="noStrike">
                <a:solidFill>
                  <a:srgbClr val="C00000"/>
                </a:solidFill>
              </a:rPr>
              <a:t>What keeps the atom from collapsing?</a:t>
            </a:r>
            <a:endParaRPr/>
          </a:p>
        </p:txBody>
      </p:sp>
      <p:sp>
        <p:nvSpPr>
          <p:cNvPr id="760" name="Google Shape;760;p61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2"/>
          <p:cNvSpPr txBox="1"/>
          <p:nvPr>
            <p:ph type="title"/>
          </p:nvPr>
        </p:nvSpPr>
        <p:spPr>
          <a:xfrm>
            <a:off x="685800" y="239486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Quantum Mechanical</a:t>
            </a:r>
            <a:br>
              <a:rPr lang="en-US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Model of the Atom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2"/>
          <p:cNvSpPr txBox="1"/>
          <p:nvPr/>
        </p:nvSpPr>
        <p:spPr>
          <a:xfrm>
            <a:off x="762000" y="1085850"/>
            <a:ext cx="7407300" cy="30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0C0C0C"/>
                </a:solidFill>
              </a:rPr>
              <a:t>Mathematical laws can identify the regions outside of the nucleus where electrons are most likely to be found.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200" u="none" cap="none" strike="noStrike">
              <a:solidFill>
                <a:srgbClr val="0C0C0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0C0C0C"/>
                </a:solidFill>
              </a:rPr>
              <a:t>These laws are beyond the scope of this class…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200" u="none" cap="none" strike="noStrike">
              <a:solidFill>
                <a:srgbClr val="0C0C0C"/>
              </a:solidFill>
            </a:endParaRPr>
          </a:p>
        </p:txBody>
      </p:sp>
      <p:sp>
        <p:nvSpPr>
          <p:cNvPr id="768" name="Google Shape;768;p62"/>
          <p:cNvSpPr txBox="1"/>
          <p:nvPr/>
        </p:nvSpPr>
        <p:spPr>
          <a:xfrm>
            <a:off x="914400" y="4229100"/>
            <a:ext cx="73152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Sorry, we will not be solving the Schrödinger Equation today</a:t>
            </a:r>
            <a:endParaRPr/>
          </a:p>
        </p:txBody>
      </p:sp>
      <p:sp>
        <p:nvSpPr>
          <p:cNvPr id="769" name="Google Shape;769;p62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3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63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6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hanks to Google for sponsoring a portion of this video!&#10;Support MinutePhysics on Patreon: http://www.patreon.com/minutephysics&#10; &#10;This video is about using Bohmian trajectories to visualize the wavefunctions of hydrogen orbitals, rendered in 3D using custom python code in Blender.&#10;&#10;REFERENCES&#10;A Suggested Interpretation of the Quantum Theory in Terms of &quot;Hidden&quot; Variables. I&#10;David Bohm, Physical Review, Vol 85 No. 2, January 15, 1952&#10;&#10;Speakable and Unspeakable in Quantum Mechanics&#10;J. S. Bell&#10;&#10;Trajectory construction of Dirac evolution&#10;Peter Holland&#10;&#10;The de Broglie-Bohm Causal Interpretation of Quantum Mechanics and its Application to some Simple Systems by Caroline Colijn&#10;&#10;Bohmian Trajectories as the Foundation of Quantum Mechanics&#10;http://arxiv.org/abs/0912.2666v1&#10;&#10;The Pilot-Wave Perspective on Quantum Scattering and Tunneling&#10;http://arxiv.org/abs/1210.7265v2&#10;&#10;A Quantum Potential Description of One-Dimensional Time-Dependent Scattering From Square Barriers and Square Wells&#10;Dewdney, Foundations of Physics, VoL 12, No. 1, 1982 &#10;&#10;Link to Patreon Supporters: http://www.minutephysics.com/supporters/ &#10; &#10;MinutePhysics is on twitter - @minutephysics &#10;And facebook - http://facebook.com/minutephysics &#10; &#10;Minute Physics provides an energetic and entertaining view of old and new problems in physics -- all in a minute! &#10; &#10;Created by Henry Reich" id="778" name="Google Shape;778;p63" title="A Better Way To Picture Atom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394" y="68580"/>
            <a:ext cx="83312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4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i="0" lang="en-US" sz="3600" u="none">
                <a:solidFill>
                  <a:schemeClr val="dk1"/>
                </a:solidFill>
              </a:rPr>
              <a:t>Heisenberg</a:t>
            </a:r>
            <a:endParaRPr/>
          </a:p>
        </p:txBody>
      </p:sp>
      <p:sp>
        <p:nvSpPr>
          <p:cNvPr id="784" name="Google Shape;784;p64"/>
          <p:cNvSpPr txBox="1"/>
          <p:nvPr>
            <p:ph idx="1" type="body"/>
          </p:nvPr>
        </p:nvSpPr>
        <p:spPr>
          <a:xfrm>
            <a:off x="685800" y="1485900"/>
            <a:ext cx="56481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0" lang="en-US" sz="2400" u="none" cap="none" strike="noStrike">
                <a:solidFill>
                  <a:schemeClr val="dk1"/>
                </a:solidFill>
              </a:rPr>
              <a:t>Heisenberg Uncertainty Principle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i="0" lang="en-US" sz="2400" u="none" cap="none" strike="noStrike">
                <a:solidFill>
                  <a:schemeClr val="dk1"/>
                </a:solidFill>
              </a:rPr>
              <a:t>Can not know exactly the position and the velocity of a particle at the same time.</a:t>
            </a:r>
            <a:endParaRPr/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i="0" lang="en-US" sz="2400" u="none" cap="none" strike="noStrike">
                <a:solidFill>
                  <a:schemeClr val="dk1"/>
                </a:solidFill>
              </a:rPr>
              <a:t>The act of measuring will change one or the other.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t/>
            </a:r>
            <a:endParaRPr i="0" sz="2400" u="none" cap="none" strike="noStrike">
              <a:solidFill>
                <a:schemeClr val="lt1"/>
              </a:solidFill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t/>
            </a:r>
            <a:endParaRPr i="0" sz="2400" u="none">
              <a:solidFill>
                <a:schemeClr val="lt1"/>
              </a:solidFill>
            </a:endParaRPr>
          </a:p>
        </p:txBody>
      </p:sp>
      <p:pic>
        <p:nvPicPr>
          <p:cNvPr descr="http://cwx.prenhall.com/bookbind/pubbooks/hillchem3/medialib/media_portfolio/text_images/CH07/FG07_23.JPG" id="785" name="Google Shape;78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1392" y="400050"/>
            <a:ext cx="1978819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4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5"/>
          <p:cNvSpPr txBox="1"/>
          <p:nvPr>
            <p:ph type="title"/>
          </p:nvPr>
        </p:nvSpPr>
        <p:spPr>
          <a:xfrm>
            <a:off x="685800" y="-108857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Heisenberg Uncertainty Principle</a:t>
            </a:r>
            <a:endParaRPr/>
          </a:p>
        </p:txBody>
      </p:sp>
      <p:sp>
        <p:nvSpPr>
          <p:cNvPr id="793" name="Google Shape;793;p65"/>
          <p:cNvSpPr txBox="1"/>
          <p:nvPr/>
        </p:nvSpPr>
        <p:spPr>
          <a:xfrm>
            <a:off x="4114800" y="2343150"/>
            <a:ext cx="4800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</a:rPr>
              <a:t>You can find out where the electron is, but not where it is going.</a:t>
            </a:r>
            <a:endParaRPr/>
          </a:p>
        </p:txBody>
      </p:sp>
      <p:sp>
        <p:nvSpPr>
          <p:cNvPr id="794" name="Google Shape;794;p65"/>
          <p:cNvSpPr txBox="1"/>
          <p:nvPr/>
        </p:nvSpPr>
        <p:spPr>
          <a:xfrm>
            <a:off x="5410200" y="3314700"/>
            <a:ext cx="1987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</a:rPr>
              <a:t>OR…</a:t>
            </a:r>
            <a:endParaRPr/>
          </a:p>
        </p:txBody>
      </p:sp>
      <p:sp>
        <p:nvSpPr>
          <p:cNvPr id="795" name="Google Shape;795;p65"/>
          <p:cNvSpPr txBox="1"/>
          <p:nvPr/>
        </p:nvSpPr>
        <p:spPr>
          <a:xfrm>
            <a:off x="4114800" y="3657600"/>
            <a:ext cx="4800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</a:rPr>
              <a:t>You can find out where the electron is going, but not where it is!</a:t>
            </a:r>
            <a:endParaRPr/>
          </a:p>
        </p:txBody>
      </p:sp>
      <p:pic>
        <p:nvPicPr>
          <p:cNvPr descr="Heisenberg_4" id="796" name="Google Shape;79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742950"/>
            <a:ext cx="2295525" cy="31051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6"/>
              </a:srgbClr>
            </a:outerShdw>
          </a:effectLst>
        </p:spPr>
      </p:pic>
      <p:sp>
        <p:nvSpPr>
          <p:cNvPr id="797" name="Google Shape;797;p65"/>
          <p:cNvSpPr/>
          <p:nvPr/>
        </p:nvSpPr>
        <p:spPr>
          <a:xfrm>
            <a:off x="3429000" y="685800"/>
            <a:ext cx="5421000" cy="1489500"/>
          </a:xfrm>
          <a:prstGeom prst="wedgeRoundRectCallout">
            <a:avLst>
              <a:gd fmla="val -72378" name="adj1"/>
              <a:gd fmla="val 63543" name="adj2"/>
              <a:gd fmla="val 16667" name="adj3"/>
            </a:avLst>
          </a:prstGeom>
          <a:solidFill>
            <a:schemeClr val="lt1"/>
          </a:solidFill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  <a:latin typeface="Comic Sans MS"/>
                <a:ea typeface="Comic Sans MS"/>
                <a:cs typeface="Comic Sans MS"/>
                <a:sym typeface="Comic Sans MS"/>
              </a:rPr>
              <a:t>“One cannot simultaneously determine both the position and momentum of an electron.”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8" name="Google Shape;798;p65"/>
          <p:cNvSpPr txBox="1"/>
          <p:nvPr/>
        </p:nvSpPr>
        <p:spPr>
          <a:xfrm>
            <a:off x="380900" y="3848100"/>
            <a:ext cx="229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</a:rPr>
              <a:t>Werner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0C0C"/>
                </a:solidFill>
              </a:rPr>
              <a:t>Heisenberg</a:t>
            </a:r>
            <a:endParaRPr/>
          </a:p>
        </p:txBody>
      </p:sp>
      <p:sp>
        <p:nvSpPr>
          <p:cNvPr id="799" name="Google Shape;799;p65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6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Particle or Wave?</a:t>
            </a:r>
            <a:endParaRPr/>
          </a:p>
        </p:txBody>
      </p:sp>
      <p:sp>
        <p:nvSpPr>
          <p:cNvPr id="806" name="Google Shape;806;p66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Light is most commonly treated as a wave, but there are times when it </a:t>
            </a:r>
            <a:r>
              <a:rPr b="1" lang="en-US"/>
              <a:t>behaves</a:t>
            </a:r>
            <a:r>
              <a:rPr lang="en-US"/>
              <a:t> more like a particle (photon)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Similarly, electrons (e</a:t>
            </a:r>
            <a:r>
              <a:rPr baseline="30000" lang="en-US"/>
              <a:t>-</a:t>
            </a:r>
            <a:r>
              <a:rPr lang="en-US"/>
              <a:t>) also exist in this dual state where they exhibit characteristics of both. This duality explains why classic Newtonian physics do not work at the quantum level.</a:t>
            </a:r>
            <a:endParaRPr/>
          </a:p>
        </p:txBody>
      </p:sp>
      <p:sp>
        <p:nvSpPr>
          <p:cNvPr id="807" name="Google Shape;807;p66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7"/>
          <p:cNvSpPr txBox="1"/>
          <p:nvPr>
            <p:ph type="title"/>
          </p:nvPr>
        </p:nvSpPr>
        <p:spPr>
          <a:xfrm>
            <a:off x="685800" y="-65314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i="0" lang="en-US" sz="3600" u="none">
                <a:solidFill>
                  <a:schemeClr val="dk1"/>
                </a:solidFill>
              </a:rPr>
              <a:t>Wave-Particle Duality</a:t>
            </a:r>
            <a:endParaRPr/>
          </a:p>
        </p:txBody>
      </p:sp>
      <p:sp>
        <p:nvSpPr>
          <p:cNvPr id="813" name="Google Shape;813;p67"/>
          <p:cNvSpPr txBox="1"/>
          <p:nvPr/>
        </p:nvSpPr>
        <p:spPr>
          <a:xfrm>
            <a:off x="533400" y="628650"/>
            <a:ext cx="8382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1" i="0" lang="en-US" sz="2400" u="none">
                <a:solidFill>
                  <a:schemeClr val="dk1"/>
                </a:solidFill>
              </a:rPr>
              <a:t>JJ Thomson won the Nobel prize for describing the electron as a particle.</a:t>
            </a:r>
            <a:endParaRPr/>
          </a:p>
        </p:txBody>
      </p:sp>
      <p:sp>
        <p:nvSpPr>
          <p:cNvPr id="814" name="Google Shape;814;p67"/>
          <p:cNvSpPr txBox="1"/>
          <p:nvPr/>
        </p:nvSpPr>
        <p:spPr>
          <a:xfrm>
            <a:off x="533400" y="1333500"/>
            <a:ext cx="83058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1" i="0" lang="en-US" sz="2400" u="none">
                <a:solidFill>
                  <a:schemeClr val="dk1"/>
                </a:solidFill>
              </a:rPr>
              <a:t>His son, George Thomson won the Nobel prize for describing the wave-like nature of the electron.</a:t>
            </a:r>
            <a:endParaRPr/>
          </a:p>
        </p:txBody>
      </p:sp>
      <p:pic>
        <p:nvPicPr>
          <p:cNvPr descr="jjthomson" id="815" name="Google Shape;81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114550"/>
            <a:ext cx="1681162" cy="2514600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10"/>
              </a:srgbClr>
            </a:outerShdw>
          </a:effectLst>
        </p:spPr>
      </p:pic>
      <p:pic>
        <p:nvPicPr>
          <p:cNvPr descr="gpthomson" id="816" name="Google Shape;81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00" y="2251471"/>
            <a:ext cx="1706165" cy="2434828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10"/>
              </a:srgbClr>
            </a:outerShdw>
          </a:effectLst>
        </p:spPr>
      </p:pic>
      <p:sp>
        <p:nvSpPr>
          <p:cNvPr id="817" name="Google Shape;817;p67"/>
          <p:cNvSpPr/>
          <p:nvPr/>
        </p:nvSpPr>
        <p:spPr>
          <a:xfrm>
            <a:off x="2362200" y="2076450"/>
            <a:ext cx="2057400" cy="1295700"/>
          </a:xfrm>
          <a:prstGeom prst="wedgeRoundRectCallout">
            <a:avLst>
              <a:gd fmla="val -82569" name="adj1"/>
              <a:gd fmla="val 36422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400"/>
              <a:buFont typeface="Comic Sans MS"/>
              <a:buNone/>
            </a:pPr>
            <a:r>
              <a:rPr b="1" i="0" lang="en-US" sz="2400" u="none">
                <a:solidFill>
                  <a:srgbClr val="00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electron is a particle!</a:t>
            </a:r>
            <a:endParaRPr/>
          </a:p>
        </p:txBody>
      </p:sp>
      <p:sp>
        <p:nvSpPr>
          <p:cNvPr id="818" name="Google Shape;818;p67"/>
          <p:cNvSpPr/>
          <p:nvPr/>
        </p:nvSpPr>
        <p:spPr>
          <a:xfrm>
            <a:off x="4572000" y="2171700"/>
            <a:ext cx="2209800" cy="1200300"/>
          </a:xfrm>
          <a:prstGeom prst="wedgeRoundRectCallout">
            <a:avLst>
              <a:gd fmla="val 79783" name="adj1"/>
              <a:gd fmla="val 56613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400"/>
              <a:buFont typeface="Comic Sans MS"/>
              <a:buNone/>
            </a:pPr>
            <a:r>
              <a:rPr b="1" i="0" lang="en-US" sz="2400" u="none">
                <a:solidFill>
                  <a:srgbClr val="00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electron is an energy wave!</a:t>
            </a:r>
            <a:endParaRPr/>
          </a:p>
        </p:txBody>
      </p:sp>
      <p:sp>
        <p:nvSpPr>
          <p:cNvPr id="819" name="Google Shape;819;p67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8"/>
          <p:cNvSpPr txBox="1"/>
          <p:nvPr>
            <p:ph type="title"/>
          </p:nvPr>
        </p:nvSpPr>
        <p:spPr>
          <a:xfrm>
            <a:off x="685800" y="65314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i="0" lang="en-US" sz="3600" u="none">
                <a:solidFill>
                  <a:schemeClr val="dk1"/>
                </a:solidFill>
              </a:rPr>
              <a:t>The Wave-like Electron</a:t>
            </a:r>
            <a:endParaRPr/>
          </a:p>
        </p:txBody>
      </p:sp>
      <p:pic>
        <p:nvPicPr>
          <p:cNvPr descr="broglie" id="825" name="Google Shape;82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857250"/>
            <a:ext cx="2474119" cy="3429000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10"/>
              </a:srgbClr>
            </a:outerShdw>
          </a:effectLst>
        </p:spPr>
      </p:pic>
      <p:sp>
        <p:nvSpPr>
          <p:cNvPr id="826" name="Google Shape;826;p68"/>
          <p:cNvSpPr txBox="1"/>
          <p:nvPr/>
        </p:nvSpPr>
        <p:spPr>
          <a:xfrm>
            <a:off x="1066800" y="4343400"/>
            <a:ext cx="238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1" i="0" lang="en-US" sz="2400" u="none">
                <a:solidFill>
                  <a:schemeClr val="dk1"/>
                </a:solidFill>
              </a:rPr>
              <a:t>Louis deBroglie</a:t>
            </a:r>
            <a:endParaRPr/>
          </a:p>
        </p:txBody>
      </p:sp>
      <p:sp>
        <p:nvSpPr>
          <p:cNvPr id="827" name="Google Shape;827;p68"/>
          <p:cNvSpPr/>
          <p:nvPr/>
        </p:nvSpPr>
        <p:spPr>
          <a:xfrm>
            <a:off x="4038600" y="857250"/>
            <a:ext cx="4876800" cy="3943500"/>
          </a:xfrm>
          <a:prstGeom prst="wedgeRoundRectCallout">
            <a:avLst>
              <a:gd fmla="val -81317" name="adj1"/>
              <a:gd fmla="val -14488" name="adj2"/>
              <a:gd fmla="val 0" name="adj3"/>
            </a:avLst>
          </a:prstGeom>
          <a:solidFill>
            <a:schemeClr val="lt1"/>
          </a:solidFill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61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400"/>
              <a:buFont typeface="Comic Sans MS"/>
              <a:buNone/>
            </a:pPr>
            <a:r>
              <a:rPr b="1" i="0" lang="en-US" sz="2300" u="none">
                <a:solidFill>
                  <a:srgbClr val="00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light waves behaves as particles, then will particles behave like waves?</a:t>
            </a:r>
            <a:endParaRPr sz="13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1" i="0" sz="2300" u="none">
              <a:solidFill>
                <a:srgbClr val="0000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400"/>
              <a:buFont typeface="Comic Sans MS"/>
              <a:buNone/>
            </a:pPr>
            <a:r>
              <a:rPr b="1" i="0" lang="en-US" sz="2300" u="none">
                <a:solidFill>
                  <a:srgbClr val="00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Since the electron propagates through space as an energy wave. To understand the atom, one must understand the behavior of electromagnetic waves.</a:t>
            </a:r>
            <a:endParaRPr sz="1300"/>
          </a:p>
        </p:txBody>
      </p:sp>
      <p:sp>
        <p:nvSpPr>
          <p:cNvPr id="828" name="Google Shape;828;p68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9"/>
          <p:cNvSpPr txBox="1"/>
          <p:nvPr>
            <p:ph idx="4294967295"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i="0" lang="en-US" sz="3200" u="none">
                <a:solidFill>
                  <a:schemeClr val="dk1"/>
                </a:solidFill>
              </a:rPr>
              <a:t>So we will study</a:t>
            </a:r>
            <a:br>
              <a:rPr i="0" lang="en-US" sz="3200" u="none">
                <a:solidFill>
                  <a:schemeClr val="dk1"/>
                </a:solidFill>
              </a:rPr>
            </a:br>
            <a:r>
              <a:rPr i="0" lang="en-US" sz="6000" u="none">
                <a:solidFill>
                  <a:schemeClr val="dk1"/>
                </a:solidFill>
              </a:rPr>
              <a:t>Light</a:t>
            </a:r>
            <a:br>
              <a:rPr i="0" lang="en-US" sz="6000" u="none">
                <a:solidFill>
                  <a:schemeClr val="dk1"/>
                </a:solidFill>
              </a:rPr>
            </a:br>
            <a:r>
              <a:rPr i="0" lang="en-US" sz="3200" u="none">
                <a:solidFill>
                  <a:schemeClr val="dk1"/>
                </a:solidFill>
              </a:rPr>
              <a:t>and other EM radiation</a:t>
            </a:r>
            <a:endParaRPr/>
          </a:p>
        </p:txBody>
      </p:sp>
      <p:pic>
        <p:nvPicPr>
          <p:cNvPr descr="File:EM spectrum.svg" id="834" name="Google Shape;83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85950"/>
            <a:ext cx="5622131" cy="300751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69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0"/>
          <p:cNvSpPr txBox="1"/>
          <p:nvPr/>
        </p:nvSpPr>
        <p:spPr>
          <a:xfrm>
            <a:off x="5410200" y="3200400"/>
            <a:ext cx="15843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omic Sans MS"/>
              <a:buNone/>
            </a:pPr>
            <a:r>
              <a:rPr b="1" i="0" lang="en-US" sz="3600" u="none">
                <a:solidFill>
                  <a:srgbClr val="C00000"/>
                </a:solidFill>
              </a:rPr>
              <a:t>c = </a:t>
            </a:r>
            <a:r>
              <a:rPr b="1" i="1" lang="en-US" sz="3600" u="none">
                <a:solidFill>
                  <a:srgbClr val="C00000"/>
                </a:solidFill>
              </a:rPr>
              <a:t>νλ</a:t>
            </a:r>
            <a:endParaRPr/>
          </a:p>
        </p:txBody>
      </p:sp>
      <p:sp>
        <p:nvSpPr>
          <p:cNvPr id="841" name="Google Shape;841;p70"/>
          <p:cNvSpPr txBox="1"/>
          <p:nvPr/>
        </p:nvSpPr>
        <p:spPr>
          <a:xfrm>
            <a:off x="609600" y="3607594"/>
            <a:ext cx="8628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rgbClr val="16165D"/>
                </a:solidFill>
              </a:rPr>
              <a:t>c = speed of light, a constant (3.00 x 10</a:t>
            </a:r>
            <a:r>
              <a:rPr b="1" baseline="30000" i="0" lang="en-US" sz="2800" u="none">
                <a:solidFill>
                  <a:srgbClr val="16165D"/>
                </a:solidFill>
              </a:rPr>
              <a:t>8</a:t>
            </a:r>
            <a:r>
              <a:rPr b="1" i="0" lang="en-US" sz="2800" u="none">
                <a:solidFill>
                  <a:srgbClr val="16165D"/>
                </a:solidFill>
              </a:rPr>
              <a:t> m/s)</a:t>
            </a:r>
            <a:endParaRPr/>
          </a:p>
        </p:txBody>
      </p:sp>
      <p:sp>
        <p:nvSpPr>
          <p:cNvPr id="842" name="Google Shape;842;p70"/>
          <p:cNvSpPr txBox="1"/>
          <p:nvPr/>
        </p:nvSpPr>
        <p:spPr>
          <a:xfrm>
            <a:off x="609600" y="4000500"/>
            <a:ext cx="83232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1" lang="en-US" sz="2800" u="none">
                <a:solidFill>
                  <a:srgbClr val="16165D"/>
                </a:solidFill>
              </a:rPr>
              <a:t>ν </a:t>
            </a:r>
            <a:r>
              <a:rPr b="1" i="0" lang="en-US" sz="2800" u="none">
                <a:solidFill>
                  <a:srgbClr val="16165D"/>
                </a:solidFill>
              </a:rPr>
              <a:t>= frequency, in units of hertz </a:t>
            </a:r>
            <a:r>
              <a:rPr b="1" i="0" lang="en-US" sz="2000" u="none">
                <a:solidFill>
                  <a:srgbClr val="16165D"/>
                </a:solidFill>
              </a:rPr>
              <a:t>(nu)</a:t>
            </a:r>
            <a:r>
              <a:rPr b="1" i="0" lang="en-US" sz="2800" u="none">
                <a:solidFill>
                  <a:srgbClr val="16165D"/>
                </a:solidFill>
              </a:rPr>
              <a:t> (</a:t>
            </a:r>
            <a:r>
              <a:rPr b="1" lang="en-US" sz="2800">
                <a:solidFill>
                  <a:srgbClr val="16165D"/>
                </a:solidFill>
              </a:rPr>
              <a:t>H</a:t>
            </a:r>
            <a:r>
              <a:rPr b="1" i="0" lang="en-US" sz="2800" u="none">
                <a:solidFill>
                  <a:srgbClr val="16165D"/>
                </a:solidFill>
              </a:rPr>
              <a:t>z, sec</a:t>
            </a:r>
            <a:r>
              <a:rPr b="1" baseline="30000" i="0" lang="en-US" sz="2800" u="none">
                <a:solidFill>
                  <a:srgbClr val="16165D"/>
                </a:solidFill>
              </a:rPr>
              <a:t>-1</a:t>
            </a:r>
            <a:r>
              <a:rPr b="1" i="0" lang="en-US" sz="2800" u="none">
                <a:solidFill>
                  <a:srgbClr val="16165D"/>
                </a:solidFill>
              </a:rPr>
              <a:t>)</a:t>
            </a:r>
            <a:endParaRPr/>
          </a:p>
        </p:txBody>
      </p:sp>
      <p:sp>
        <p:nvSpPr>
          <p:cNvPr id="843" name="Google Shape;843;p70"/>
          <p:cNvSpPr txBox="1"/>
          <p:nvPr/>
        </p:nvSpPr>
        <p:spPr>
          <a:xfrm>
            <a:off x="609600" y="4343400"/>
            <a:ext cx="60102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rgbClr val="16165D"/>
                </a:solidFill>
              </a:rPr>
              <a:t>λ = wavelength, in meters </a:t>
            </a:r>
            <a:r>
              <a:rPr b="1" i="0" lang="en-US" sz="2000" u="none">
                <a:solidFill>
                  <a:srgbClr val="16165D"/>
                </a:solidFill>
              </a:rPr>
              <a:t>(Lambda)</a:t>
            </a:r>
            <a:endParaRPr b="1" i="1" sz="2000" u="none">
              <a:solidFill>
                <a:srgbClr val="16165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rgbClr val="16165D"/>
                </a:solidFill>
              </a:rPr>
              <a:t> </a:t>
            </a:r>
            <a:endParaRPr/>
          </a:p>
        </p:txBody>
      </p:sp>
      <p:sp>
        <p:nvSpPr>
          <p:cNvPr id="844" name="Google Shape;844;p70"/>
          <p:cNvSpPr txBox="1"/>
          <p:nvPr>
            <p:ph type="title"/>
          </p:nvPr>
        </p:nvSpPr>
        <p:spPr>
          <a:xfrm>
            <a:off x="685800" y="38862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i="0" lang="en-US" sz="2800" u="none">
                <a:solidFill>
                  <a:schemeClr val="dk1"/>
                </a:solidFill>
              </a:rPr>
              <a:t>Electromagnetic radiation propagates through space as a wave moving at the speed of light.</a:t>
            </a:r>
            <a:endParaRPr/>
          </a:p>
        </p:txBody>
      </p:sp>
      <p:pic>
        <p:nvPicPr>
          <p:cNvPr descr="File:Wavelength.png" id="845" name="Google Shape;84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067562"/>
            <a:ext cx="3314700" cy="2221706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10"/>
              </a:srgbClr>
            </a:outerShdw>
          </a:effectLst>
        </p:spPr>
      </p:pic>
      <p:sp>
        <p:nvSpPr>
          <p:cNvPr id="846" name="Google Shape;846;p70"/>
          <p:cNvSpPr txBox="1"/>
          <p:nvPr/>
        </p:nvSpPr>
        <p:spPr>
          <a:xfrm>
            <a:off x="2590800" y="4743450"/>
            <a:ext cx="6553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Note the inverse relation between </a:t>
            </a:r>
            <a:r>
              <a:rPr b="1" lang="en-US" sz="2400">
                <a:solidFill>
                  <a:schemeClr val="accent2"/>
                </a:solidFill>
              </a:rPr>
              <a:t>ν</a:t>
            </a:r>
            <a:r>
              <a:rPr b="1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2400">
                <a:solidFill>
                  <a:schemeClr val="accent2"/>
                </a:solidFill>
              </a:rPr>
              <a:t>λ</a:t>
            </a:r>
            <a:endParaRPr/>
          </a:p>
        </p:txBody>
      </p:sp>
      <p:sp>
        <p:nvSpPr>
          <p:cNvPr id="847" name="Google Shape;847;p70"/>
          <p:cNvSpPr txBox="1"/>
          <p:nvPr/>
        </p:nvSpPr>
        <p:spPr>
          <a:xfrm>
            <a:off x="457200" y="2114550"/>
            <a:ext cx="3200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rgbClr val="16165D"/>
                </a:solidFill>
              </a:rPr>
              <a:t>A = amplitude</a:t>
            </a:r>
            <a:endParaRPr/>
          </a:p>
        </p:txBody>
      </p:sp>
      <p:sp>
        <p:nvSpPr>
          <p:cNvPr id="848" name="Google Shape;848;p70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1"/>
          <p:cNvSpPr txBox="1"/>
          <p:nvPr/>
        </p:nvSpPr>
        <p:spPr>
          <a:xfrm>
            <a:off x="5867400" y="342900"/>
            <a:ext cx="17526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omic Sans MS"/>
              <a:buNone/>
            </a:pPr>
            <a:r>
              <a:rPr b="1" i="0" lang="en-US" sz="3600" u="none">
                <a:solidFill>
                  <a:srgbClr val="C00000"/>
                </a:solidFill>
              </a:rPr>
              <a:t>c = </a:t>
            </a:r>
            <a:r>
              <a:rPr b="1" i="1" lang="en-US" sz="3600" u="none">
                <a:solidFill>
                  <a:srgbClr val="C00000"/>
                </a:solidFill>
              </a:rPr>
              <a:t>νλ</a:t>
            </a:r>
            <a:endParaRPr/>
          </a:p>
        </p:txBody>
      </p:sp>
      <p:sp>
        <p:nvSpPr>
          <p:cNvPr id="854" name="Google Shape;854;p71"/>
          <p:cNvSpPr txBox="1"/>
          <p:nvPr/>
        </p:nvSpPr>
        <p:spPr>
          <a:xfrm>
            <a:off x="609600" y="3607594"/>
            <a:ext cx="35847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rgbClr val="16165D"/>
                </a:solidFill>
              </a:rPr>
              <a:t>c = 3.00 x 10</a:t>
            </a:r>
            <a:r>
              <a:rPr b="1" baseline="30000" i="0" lang="en-US" sz="2800" u="none">
                <a:solidFill>
                  <a:srgbClr val="16165D"/>
                </a:solidFill>
              </a:rPr>
              <a:t>8</a:t>
            </a:r>
            <a:r>
              <a:rPr b="1" i="0" lang="en-US" sz="2800" u="none">
                <a:solidFill>
                  <a:srgbClr val="16165D"/>
                </a:solidFill>
              </a:rPr>
              <a:t> m/s</a:t>
            </a:r>
            <a:endParaRPr/>
          </a:p>
        </p:txBody>
      </p:sp>
      <p:sp>
        <p:nvSpPr>
          <p:cNvPr id="855" name="Google Shape;855;p71"/>
          <p:cNvSpPr txBox="1"/>
          <p:nvPr/>
        </p:nvSpPr>
        <p:spPr>
          <a:xfrm>
            <a:off x="609600" y="4000500"/>
            <a:ext cx="66342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1" lang="en-US" sz="2800" u="none">
                <a:solidFill>
                  <a:srgbClr val="16165D"/>
                </a:solidFill>
              </a:rPr>
              <a:t>ν </a:t>
            </a:r>
            <a:r>
              <a:rPr b="1" i="0" lang="en-US" sz="2800" u="none">
                <a:solidFill>
                  <a:srgbClr val="16165D"/>
                </a:solidFill>
              </a:rPr>
              <a:t>= frequency in hertz (Cycles / sec)</a:t>
            </a:r>
            <a:endParaRPr/>
          </a:p>
        </p:txBody>
      </p:sp>
      <p:sp>
        <p:nvSpPr>
          <p:cNvPr id="856" name="Google Shape;856;p71"/>
          <p:cNvSpPr txBox="1"/>
          <p:nvPr/>
        </p:nvSpPr>
        <p:spPr>
          <a:xfrm>
            <a:off x="609600" y="4343400"/>
            <a:ext cx="4692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rgbClr val="16165D"/>
                </a:solidFill>
              </a:rPr>
              <a:t>λ = wavelength in meters </a:t>
            </a:r>
            <a:endParaRPr/>
          </a:p>
        </p:txBody>
      </p:sp>
      <p:sp>
        <p:nvSpPr>
          <p:cNvPr id="857" name="Google Shape;857;p71"/>
          <p:cNvSpPr txBox="1"/>
          <p:nvPr>
            <p:ph idx="4294967295" type="title"/>
          </p:nvPr>
        </p:nvSpPr>
        <p:spPr>
          <a:xfrm>
            <a:off x="457200" y="0"/>
            <a:ext cx="83820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i="0" lang="en-US" sz="3200" u="none" cap="none" strike="noStrike">
                <a:solidFill>
                  <a:schemeClr val="dk1"/>
                </a:solidFill>
              </a:rPr>
              <a:t>Increasing frequency</a:t>
            </a:r>
            <a:br>
              <a:rPr i="0" lang="en-US" sz="3200" u="none" cap="none" strike="noStrike">
                <a:solidFill>
                  <a:schemeClr val="dk1"/>
                </a:solidFill>
              </a:rPr>
            </a:br>
            <a:r>
              <a:rPr i="0" lang="en-US" sz="3200" u="none" cap="none" strike="noStrike">
                <a:solidFill>
                  <a:schemeClr val="dk1"/>
                </a:solidFill>
              </a:rPr>
              <a:t>Decreasing wavelength</a:t>
            </a:r>
            <a:endParaRPr/>
          </a:p>
        </p:txBody>
      </p:sp>
      <p:pic>
        <p:nvPicPr>
          <p:cNvPr descr="Wave_frequency" id="858" name="Google Shape;85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028700"/>
            <a:ext cx="48577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1"/>
          <p:cNvSpPr txBox="1"/>
          <p:nvPr/>
        </p:nvSpPr>
        <p:spPr>
          <a:xfrm>
            <a:off x="2590800" y="4743450"/>
            <a:ext cx="6553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Note the inverse relation between </a:t>
            </a:r>
            <a:r>
              <a:rPr b="1" lang="en-US" sz="2400">
                <a:solidFill>
                  <a:schemeClr val="accent2"/>
                </a:solidFill>
              </a:rPr>
              <a:t>ν</a:t>
            </a:r>
            <a:r>
              <a:rPr b="1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2400">
                <a:solidFill>
                  <a:schemeClr val="accent2"/>
                </a:solidFill>
              </a:rPr>
              <a:t>λ</a:t>
            </a:r>
            <a:endParaRPr/>
          </a:p>
        </p:txBody>
      </p:sp>
      <p:sp>
        <p:nvSpPr>
          <p:cNvPr id="860" name="Google Shape;860;p71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2"/>
          <p:cNvSpPr txBox="1"/>
          <p:nvPr/>
        </p:nvSpPr>
        <p:spPr>
          <a:xfrm>
            <a:off x="3352800" y="1408176"/>
            <a:ext cx="1905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omic Sans MS"/>
              <a:buNone/>
            </a:pPr>
            <a:r>
              <a:rPr b="1" i="1" lang="en-US" sz="3600" u="none">
                <a:solidFill>
                  <a:srgbClr val="C00000"/>
                </a:solidFill>
              </a:rPr>
              <a:t>E = hν</a:t>
            </a:r>
            <a:endParaRPr/>
          </a:p>
        </p:txBody>
      </p:sp>
      <p:sp>
        <p:nvSpPr>
          <p:cNvPr id="866" name="Google Shape;866;p72"/>
          <p:cNvSpPr txBox="1"/>
          <p:nvPr/>
        </p:nvSpPr>
        <p:spPr>
          <a:xfrm>
            <a:off x="914400" y="1943100"/>
            <a:ext cx="74103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1" i="1" lang="en-US" sz="2800" u="none">
                <a:solidFill>
                  <a:srgbClr val="C00000"/>
                </a:solidFill>
              </a:rPr>
              <a:t>E</a:t>
            </a:r>
            <a:r>
              <a:rPr b="1" i="0" lang="en-US" sz="2800" u="none">
                <a:solidFill>
                  <a:srgbClr val="FFFF00"/>
                </a:solidFill>
              </a:rPr>
              <a:t> </a:t>
            </a:r>
            <a:r>
              <a:rPr b="1" i="0" lang="en-US" sz="2800" u="none">
                <a:solidFill>
                  <a:srgbClr val="000066"/>
                </a:solidFill>
              </a:rPr>
              <a:t>= Energy, in units of Joules (kg·m</a:t>
            </a:r>
            <a:r>
              <a:rPr b="1" baseline="30000" i="0" lang="en-US" sz="2800" u="none">
                <a:solidFill>
                  <a:srgbClr val="000066"/>
                </a:solidFill>
              </a:rPr>
              <a:t>2</a:t>
            </a:r>
            <a:r>
              <a:rPr b="1" i="0" lang="en-US" sz="2800" u="none">
                <a:solidFill>
                  <a:srgbClr val="000066"/>
                </a:solidFill>
              </a:rPr>
              <a:t>/s</a:t>
            </a:r>
            <a:r>
              <a:rPr b="1" baseline="30000" i="0" lang="en-US" sz="2800" u="none">
                <a:solidFill>
                  <a:srgbClr val="000066"/>
                </a:solidFill>
              </a:rPr>
              <a:t>2</a:t>
            </a:r>
            <a:r>
              <a:rPr b="1" i="0" lang="en-US" sz="2800" u="none">
                <a:solidFill>
                  <a:srgbClr val="000066"/>
                </a:solidFill>
              </a:rPr>
              <a:t>)</a:t>
            </a:r>
            <a:endParaRPr/>
          </a:p>
        </p:txBody>
      </p:sp>
      <p:sp>
        <p:nvSpPr>
          <p:cNvPr id="867" name="Google Shape;867;p72"/>
          <p:cNvSpPr txBox="1"/>
          <p:nvPr/>
        </p:nvSpPr>
        <p:spPr>
          <a:xfrm>
            <a:off x="914400" y="2400300"/>
            <a:ext cx="77106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1" i="1" lang="en-US" sz="2800" u="none">
                <a:solidFill>
                  <a:srgbClr val="C00000"/>
                </a:solidFill>
              </a:rPr>
              <a:t>h</a:t>
            </a:r>
            <a:r>
              <a:rPr b="1" i="0" lang="en-US" sz="2800" u="none">
                <a:solidFill>
                  <a:srgbClr val="FFFF00"/>
                </a:solidFill>
              </a:rPr>
              <a:t> </a:t>
            </a:r>
            <a:r>
              <a:rPr b="1" i="0" lang="en-US" sz="2800" u="none">
                <a:solidFill>
                  <a:srgbClr val="000066"/>
                </a:solidFill>
              </a:rPr>
              <a:t>= Planck’s constant (6.626 x 10</a:t>
            </a:r>
            <a:r>
              <a:rPr b="1" baseline="30000" i="0" lang="en-US" sz="2800" u="none">
                <a:solidFill>
                  <a:srgbClr val="000066"/>
                </a:solidFill>
              </a:rPr>
              <a:t>-34</a:t>
            </a:r>
            <a:r>
              <a:rPr b="1" i="0" lang="en-US" sz="2800" u="none">
                <a:solidFill>
                  <a:srgbClr val="000066"/>
                </a:solidFill>
              </a:rPr>
              <a:t> J·s)</a:t>
            </a:r>
            <a:endParaRPr/>
          </a:p>
        </p:txBody>
      </p:sp>
      <p:sp>
        <p:nvSpPr>
          <p:cNvPr id="868" name="Google Shape;868;p72"/>
          <p:cNvSpPr txBox="1"/>
          <p:nvPr/>
        </p:nvSpPr>
        <p:spPr>
          <a:xfrm>
            <a:off x="914400" y="2857500"/>
            <a:ext cx="77169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1" i="1" lang="en-US" sz="2800" u="none">
                <a:solidFill>
                  <a:srgbClr val="C00000"/>
                </a:solidFill>
              </a:rPr>
              <a:t>ν</a:t>
            </a:r>
            <a:r>
              <a:rPr b="1" i="1" lang="en-US" sz="2800" u="none">
                <a:solidFill>
                  <a:srgbClr val="000066"/>
                </a:solidFill>
              </a:rPr>
              <a:t> </a:t>
            </a:r>
            <a:r>
              <a:rPr b="1" i="0" lang="en-US" sz="2800" u="none">
                <a:solidFill>
                  <a:srgbClr val="000066"/>
                </a:solidFill>
              </a:rPr>
              <a:t>= frequency, in units of hertz (</a:t>
            </a:r>
            <a:r>
              <a:rPr b="1" lang="en-US" sz="2800">
                <a:solidFill>
                  <a:srgbClr val="000066"/>
                </a:solidFill>
              </a:rPr>
              <a:t>H</a:t>
            </a:r>
            <a:r>
              <a:rPr b="1" i="0" lang="en-US" sz="2800" u="none">
                <a:solidFill>
                  <a:srgbClr val="000066"/>
                </a:solidFill>
              </a:rPr>
              <a:t>z, sec</a:t>
            </a:r>
            <a:r>
              <a:rPr b="1" baseline="30000" i="0" lang="en-US" sz="2800" u="none">
                <a:solidFill>
                  <a:srgbClr val="000066"/>
                </a:solidFill>
              </a:rPr>
              <a:t>-1</a:t>
            </a:r>
            <a:r>
              <a:rPr b="1" i="0" lang="en-US" sz="2800" u="none">
                <a:solidFill>
                  <a:srgbClr val="000066"/>
                </a:solidFill>
              </a:rPr>
              <a:t>)</a:t>
            </a:r>
            <a:endParaRPr b="1" i="1" sz="2800" u="none">
              <a:solidFill>
                <a:srgbClr val="00006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rPr b="1" i="0" lang="en-US" sz="2400" u="none">
                <a:solidFill>
                  <a:schemeClr val="lt1"/>
                </a:solidFill>
              </a:rPr>
              <a:t>	</a:t>
            </a:r>
            <a:endParaRPr/>
          </a:p>
        </p:txBody>
      </p:sp>
      <p:sp>
        <p:nvSpPr>
          <p:cNvPr id="869" name="Google Shape;869;p72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i="0" lang="en-US" sz="2800" u="none">
                <a:solidFill>
                  <a:schemeClr val="dk1"/>
                </a:solidFill>
              </a:rPr>
              <a:t>The energy (</a:t>
            </a:r>
            <a:r>
              <a:rPr i="1" lang="en-US" sz="2800" u="none">
                <a:solidFill>
                  <a:schemeClr val="dk1"/>
                </a:solidFill>
              </a:rPr>
              <a:t>E </a:t>
            </a:r>
            <a:r>
              <a:rPr i="0" lang="en-US" sz="2800" u="none">
                <a:solidFill>
                  <a:schemeClr val="dk1"/>
                </a:solidFill>
              </a:rPr>
              <a:t>) of electromagnetic radiation is directly proportional to the frequency (ν) of the radiation.</a:t>
            </a:r>
            <a:endParaRPr/>
          </a:p>
        </p:txBody>
      </p:sp>
      <p:sp>
        <p:nvSpPr>
          <p:cNvPr id="870" name="Google Shape;870;p72"/>
          <p:cNvSpPr txBox="1"/>
          <p:nvPr/>
        </p:nvSpPr>
        <p:spPr>
          <a:xfrm>
            <a:off x="2057400" y="3543300"/>
            <a:ext cx="655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Note the direct relation between </a:t>
            </a:r>
            <a:r>
              <a:rPr b="1" i="1" lang="en-US" sz="2400">
                <a:solidFill>
                  <a:schemeClr val="accent2"/>
                </a:solidFill>
              </a:rPr>
              <a:t>ν</a:t>
            </a:r>
            <a:r>
              <a:rPr b="1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and E</a:t>
            </a:r>
            <a:endParaRPr/>
          </a:p>
        </p:txBody>
      </p:sp>
      <p:sp>
        <p:nvSpPr>
          <p:cNvPr id="871" name="Google Shape;871;p72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3"/>
          <p:cNvSpPr txBox="1"/>
          <p:nvPr/>
        </p:nvSpPr>
        <p:spPr>
          <a:xfrm>
            <a:off x="228600" y="2812225"/>
            <a:ext cx="2743200" cy="2090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Short 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Wavelength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=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High Frequency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=</a:t>
            </a:r>
            <a:endParaRPr sz="2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High ENERGY</a:t>
            </a:r>
            <a:endParaRPr sz="2100"/>
          </a:p>
        </p:txBody>
      </p:sp>
      <p:sp>
        <p:nvSpPr>
          <p:cNvPr id="877" name="Google Shape;877;p73"/>
          <p:cNvSpPr txBox="1"/>
          <p:nvPr/>
        </p:nvSpPr>
        <p:spPr>
          <a:xfrm>
            <a:off x="228600" y="228600"/>
            <a:ext cx="2706600" cy="2008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Long 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Wavelength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=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Low Frequency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=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5D"/>
              </a:buClr>
              <a:buSzPts val="2800"/>
              <a:buFont typeface="Comic Sans MS"/>
              <a:buNone/>
            </a:pPr>
            <a:r>
              <a:rPr b="1" i="0" lang="en-US" sz="2100" u="none">
                <a:solidFill>
                  <a:srgbClr val="16165D"/>
                </a:solidFill>
              </a:rPr>
              <a:t>Low ENERGY</a:t>
            </a:r>
            <a:endParaRPr sz="700"/>
          </a:p>
        </p:txBody>
      </p:sp>
      <p:sp>
        <p:nvSpPr>
          <p:cNvPr id="878" name="Google Shape;878;p73"/>
          <p:cNvSpPr txBox="1"/>
          <p:nvPr>
            <p:ph type="title"/>
          </p:nvPr>
        </p:nvSpPr>
        <p:spPr>
          <a:xfrm>
            <a:off x="3256039" y="239486"/>
            <a:ext cx="5419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i="0" lang="en-US" sz="5400" u="none">
                <a:solidFill>
                  <a:schemeClr val="dk1"/>
                </a:solidFill>
              </a:rPr>
              <a:t>What it means</a:t>
            </a:r>
            <a:endParaRPr/>
          </a:p>
        </p:txBody>
      </p:sp>
      <p:pic>
        <p:nvPicPr>
          <p:cNvPr descr="natureofwaves" id="879" name="Google Shape;879;p7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450" y="1096875"/>
            <a:ext cx="5658300" cy="3475200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10"/>
              </a:srgbClr>
            </a:outerShdw>
          </a:effectLst>
        </p:spPr>
      </p:pic>
      <p:sp>
        <p:nvSpPr>
          <p:cNvPr id="880" name="Google Shape;880;p7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4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i="0" lang="en-US" sz="3600" u="none">
                <a:solidFill>
                  <a:schemeClr val="dk1"/>
                </a:solidFill>
              </a:rPr>
              <a:t>One way of Answering the Dilemma of the Atom</a:t>
            </a:r>
            <a:endParaRPr/>
          </a:p>
        </p:txBody>
      </p:sp>
      <p:sp>
        <p:nvSpPr>
          <p:cNvPr id="886" name="Google Shape;886;p74"/>
          <p:cNvSpPr txBox="1"/>
          <p:nvPr>
            <p:ph idx="1" type="body"/>
          </p:nvPr>
        </p:nvSpPr>
        <p:spPr>
          <a:xfrm>
            <a:off x="685800" y="1456871"/>
            <a:ext cx="7772400" cy="3313500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16165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1599">
              <a:srgbClr val="000000">
                <a:alpha val="3961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i="0" lang="en-US" sz="3200" u="none" cap="none" strike="noStrike">
                <a:solidFill>
                  <a:schemeClr val="dk1"/>
                </a:solidFill>
              </a:rPr>
              <a:t>Treat electrons as waves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i="0" lang="en-US" sz="3200" u="none" cap="none" strike="noStrike">
                <a:solidFill>
                  <a:schemeClr val="dk1"/>
                </a:solidFill>
              </a:rPr>
              <a:t>As the electron moves toward the nucleus, the wavelength shortens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i="0" lang="en-US" sz="3200" u="none" cap="none" strike="noStrike">
                <a:solidFill>
                  <a:schemeClr val="dk1"/>
                </a:solidFill>
              </a:rPr>
              <a:t>Shorter wavelength = higher energy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i="0" lang="en-US" sz="3200" u="none" cap="none" strike="noStrike">
                <a:solidFill>
                  <a:schemeClr val="dk1"/>
                </a:solidFill>
              </a:rPr>
              <a:t>Higher energy = greater distance from the nucleus</a:t>
            </a:r>
            <a:endParaRPr/>
          </a:p>
        </p:txBody>
      </p:sp>
      <p:sp>
        <p:nvSpPr>
          <p:cNvPr id="887" name="Google Shape;887;p74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5"/>
          <p:cNvSpPr txBox="1"/>
          <p:nvPr>
            <p:ph type="title"/>
          </p:nvPr>
        </p:nvSpPr>
        <p:spPr>
          <a:xfrm>
            <a:off x="685800" y="79829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i="0" lang="en-US" sz="3200" u="none">
                <a:solidFill>
                  <a:schemeClr val="dk1"/>
                </a:solidFill>
              </a:rPr>
              <a:t>The Electromagnetic Spectrum</a:t>
            </a:r>
            <a:endParaRPr/>
          </a:p>
        </p:txBody>
      </p:sp>
      <p:pic>
        <p:nvPicPr>
          <p:cNvPr descr="File:EM Spectrum Properties edit.svg" id="893" name="Google Shape;89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14400"/>
            <a:ext cx="6400801" cy="3793331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75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6"/>
          <p:cNvSpPr txBox="1"/>
          <p:nvPr>
            <p:ph type="title"/>
          </p:nvPr>
        </p:nvSpPr>
        <p:spPr>
          <a:xfrm>
            <a:off x="685800" y="36286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i="0" lang="en-US" sz="4800" u="none">
                <a:solidFill>
                  <a:schemeClr val="dk1"/>
                </a:solidFill>
              </a:rPr>
              <a:t>Mechanics</a:t>
            </a:r>
            <a:endParaRPr/>
          </a:p>
        </p:txBody>
      </p:sp>
      <p:sp>
        <p:nvSpPr>
          <p:cNvPr id="900" name="Google Shape;900;p76"/>
          <p:cNvSpPr txBox="1"/>
          <p:nvPr/>
        </p:nvSpPr>
        <p:spPr>
          <a:xfrm>
            <a:off x="533400" y="781050"/>
            <a:ext cx="8229600" cy="4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Classical Mechanics:</a:t>
            </a:r>
            <a:endParaRPr sz="1200"/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Describes the motion of macroscopic objects</a:t>
            </a:r>
            <a:endParaRPr sz="1200"/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Projectiles, parts of machinery, astronomical objects, such as spacecraft, planets, stars, and galaxies.</a:t>
            </a:r>
            <a:endParaRPr sz="1200"/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Copernicus, Newton, Einstein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Quantum Mechanics:</a:t>
            </a:r>
            <a:endParaRPr sz="1200"/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Reconciles the macroscopic laws of physics with the atomic nature of matter</a:t>
            </a:r>
            <a:endParaRPr sz="1200"/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Handles the wave-particle duality of atoms and molecules.</a:t>
            </a:r>
            <a:endParaRPr sz="1200"/>
          </a:p>
          <a:p>
            <a:pPr indent="-1397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Schrödinger, Heisenberg, Pauli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76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pec" id="906" name="Google Shape;906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000" y="285750"/>
            <a:ext cx="3829050" cy="4299347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10"/>
              </a:srgbClr>
            </a:outerShdw>
          </a:effectLst>
        </p:spPr>
      </p:pic>
      <p:sp>
        <p:nvSpPr>
          <p:cNvPr id="907" name="Google Shape;907;p77"/>
          <p:cNvSpPr txBox="1"/>
          <p:nvPr/>
        </p:nvSpPr>
        <p:spPr>
          <a:xfrm>
            <a:off x="537029" y="2483304"/>
            <a:ext cx="3962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chemeClr val="dk1"/>
                </a:solidFill>
              </a:rPr>
              <a:t>Definite amounts of energy are quanta.</a:t>
            </a:r>
            <a:endParaRPr/>
          </a:p>
        </p:txBody>
      </p:sp>
      <p:sp>
        <p:nvSpPr>
          <p:cNvPr id="908" name="Google Shape;908;p77"/>
          <p:cNvSpPr txBox="1"/>
          <p:nvPr>
            <p:ph type="title"/>
          </p:nvPr>
        </p:nvSpPr>
        <p:spPr>
          <a:xfrm>
            <a:off x="555171" y="12700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i="0" lang="en-US" sz="2800" u="none">
                <a:solidFill>
                  <a:schemeClr val="dk1"/>
                </a:solidFill>
              </a:rPr>
              <a:t>Electron transitions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involve jumps of 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definite amounts of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energy.</a:t>
            </a:r>
            <a:br>
              <a:rPr i="0" lang="en-US" sz="2800" u="none">
                <a:solidFill>
                  <a:schemeClr val="lt1"/>
                </a:solidFill>
              </a:rPr>
            </a:br>
            <a:endParaRPr/>
          </a:p>
        </p:txBody>
      </p:sp>
      <p:sp>
        <p:nvSpPr>
          <p:cNvPr id="909" name="Google Shape;909;p77"/>
          <p:cNvSpPr txBox="1"/>
          <p:nvPr/>
        </p:nvSpPr>
        <p:spPr>
          <a:xfrm>
            <a:off x="537029" y="3578679"/>
            <a:ext cx="39624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chemeClr val="dk1"/>
                </a:solidFill>
              </a:rPr>
              <a:t>Quanta of light are photons.</a:t>
            </a:r>
            <a:endParaRPr/>
          </a:p>
        </p:txBody>
      </p:sp>
      <p:sp>
        <p:nvSpPr>
          <p:cNvPr id="910" name="Google Shape;910;p77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pec" id="915" name="Google Shape;915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285750"/>
            <a:ext cx="3829050" cy="4299347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10"/>
              </a:srgbClr>
            </a:outerShdw>
          </a:effectLst>
        </p:spPr>
      </p:pic>
      <p:sp>
        <p:nvSpPr>
          <p:cNvPr id="916" name="Google Shape;916;p78"/>
          <p:cNvSpPr txBox="1"/>
          <p:nvPr/>
        </p:nvSpPr>
        <p:spPr>
          <a:xfrm>
            <a:off x="0" y="2047875"/>
            <a:ext cx="39624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chemeClr val="dk1"/>
                </a:solidFill>
              </a:rPr>
              <a:t>This produces bands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chemeClr val="dk1"/>
                </a:solidFill>
              </a:rPr>
              <a:t>of light with definite wavelengths.</a:t>
            </a:r>
            <a:endParaRPr/>
          </a:p>
        </p:txBody>
      </p:sp>
      <p:sp>
        <p:nvSpPr>
          <p:cNvPr id="917" name="Google Shape;917;p78"/>
          <p:cNvSpPr txBox="1"/>
          <p:nvPr>
            <p:ph type="title"/>
          </p:nvPr>
        </p:nvSpPr>
        <p:spPr>
          <a:xfrm>
            <a:off x="105229" y="878114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i="0" lang="en-US" sz="2800" u="none">
                <a:solidFill>
                  <a:schemeClr val="dk1"/>
                </a:solidFill>
              </a:rPr>
              <a:t>Electron transitions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involve jumps of 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definite amounts of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energy.</a:t>
            </a:r>
            <a:br>
              <a:rPr i="0" lang="en-US" sz="2800" u="none">
                <a:solidFill>
                  <a:schemeClr val="lt1"/>
                </a:solidFill>
              </a:rPr>
            </a:br>
            <a:endParaRPr/>
          </a:p>
        </p:txBody>
      </p:sp>
      <p:sp>
        <p:nvSpPr>
          <p:cNvPr id="918" name="Google Shape;918;p78"/>
          <p:cNvSpPr txBox="1"/>
          <p:nvPr/>
        </p:nvSpPr>
        <p:spPr>
          <a:xfrm>
            <a:off x="228600" y="3371850"/>
            <a:ext cx="29718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Lyman: Ultraviolet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Balmer: Visible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Paschen: Infrared</a:t>
            </a:r>
            <a:endParaRPr/>
          </a:p>
        </p:txBody>
      </p:sp>
      <p:sp>
        <p:nvSpPr>
          <p:cNvPr id="919" name="Google Shape;919;p78"/>
          <p:cNvSpPr txBox="1"/>
          <p:nvPr/>
        </p:nvSpPr>
        <p:spPr>
          <a:xfrm>
            <a:off x="1143000" y="4629150"/>
            <a:ext cx="7162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lowest possible energy is the ground state</a:t>
            </a:r>
            <a:endParaRPr/>
          </a:p>
        </p:txBody>
      </p:sp>
      <p:sp>
        <p:nvSpPr>
          <p:cNvPr id="920" name="Google Shape;920;p78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79"/>
          <p:cNvSpPr txBox="1"/>
          <p:nvPr/>
        </p:nvSpPr>
        <p:spPr>
          <a:xfrm>
            <a:off x="2286000" y="4114800"/>
            <a:ext cx="60261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i="0" lang="en-US" sz="2800" u="none">
                <a:solidFill>
                  <a:schemeClr val="dk1"/>
                </a:solidFill>
              </a:rPr>
              <a:t>…produces a “bright line” spectrum</a:t>
            </a:r>
            <a:endParaRPr/>
          </a:p>
        </p:txBody>
      </p:sp>
      <p:pic>
        <p:nvPicPr>
          <p:cNvPr descr="hydrogenspectrum" id="926" name="Google Shape;92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7500" y="1187050"/>
            <a:ext cx="5409009" cy="2769393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10"/>
              </a:srgbClr>
            </a:outerShdw>
          </a:effectLst>
        </p:spPr>
      </p:pic>
      <p:sp>
        <p:nvSpPr>
          <p:cNvPr id="927" name="Google Shape;927;p79"/>
          <p:cNvSpPr txBox="1"/>
          <p:nvPr>
            <p:ph type="title"/>
          </p:nvPr>
        </p:nvSpPr>
        <p:spPr>
          <a:xfrm>
            <a:off x="685800" y="268514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</a:rPr>
              <a:t>Spectroscopic analysis of the </a:t>
            </a:r>
            <a:r>
              <a:rPr i="0" lang="en-US" sz="3200" u="none">
                <a:solidFill>
                  <a:schemeClr val="dk1"/>
                </a:solidFill>
              </a:rPr>
              <a:t>emission spectrum</a:t>
            </a:r>
            <a:r>
              <a:rPr b="0" i="0" lang="en-US" sz="3200" u="none">
                <a:solidFill>
                  <a:schemeClr val="dk1"/>
                </a:solidFill>
              </a:rPr>
              <a:t> of Hydrogen…</a:t>
            </a:r>
            <a:endParaRPr/>
          </a:p>
        </p:txBody>
      </p:sp>
      <p:sp>
        <p:nvSpPr>
          <p:cNvPr id="928" name="Google Shape;928;p79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80"/>
          <p:cNvSpPr txBox="1"/>
          <p:nvPr>
            <p:ph type="title"/>
          </p:nvPr>
        </p:nvSpPr>
        <p:spPr>
          <a:xfrm>
            <a:off x="685800" y="-65314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i="0" lang="en-US" sz="3600" u="none">
                <a:solidFill>
                  <a:schemeClr val="dk1"/>
                </a:solidFill>
              </a:rPr>
              <a:t>Flame Tests</a:t>
            </a:r>
            <a:endParaRPr/>
          </a:p>
        </p:txBody>
      </p:sp>
      <p:pic>
        <p:nvPicPr>
          <p:cNvPr descr="File:FlammenfärbungSr.png" id="934" name="Google Shape;93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675" y="1428750"/>
            <a:ext cx="1054894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FlammenfärbungNa.png" id="935" name="Google Shape;935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1428750"/>
            <a:ext cx="1077515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0"/>
          <p:cNvSpPr txBox="1"/>
          <p:nvPr/>
        </p:nvSpPr>
        <p:spPr>
          <a:xfrm>
            <a:off x="60300" y="4629150"/>
            <a:ext cx="1636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1" i="0" lang="en-US" sz="2100" u="none">
                <a:solidFill>
                  <a:schemeClr val="dk1"/>
                </a:solidFill>
              </a:rPr>
              <a:t>strontium</a:t>
            </a:r>
            <a:endParaRPr sz="1100"/>
          </a:p>
        </p:txBody>
      </p:sp>
      <p:sp>
        <p:nvSpPr>
          <p:cNvPr id="937" name="Google Shape;937;p80"/>
          <p:cNvSpPr txBox="1"/>
          <p:nvPr/>
        </p:nvSpPr>
        <p:spPr>
          <a:xfrm>
            <a:off x="1956275" y="4629150"/>
            <a:ext cx="11619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1" i="0" lang="en-US" sz="2100" u="none">
                <a:solidFill>
                  <a:schemeClr val="dk1"/>
                </a:solidFill>
              </a:rPr>
              <a:t>sodium</a:t>
            </a:r>
            <a:endParaRPr sz="1100"/>
          </a:p>
        </p:txBody>
      </p:sp>
      <p:pic>
        <p:nvPicPr>
          <p:cNvPr descr="File:FlammenfärbungLi.png" id="938" name="Google Shape;938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25875" y="1428750"/>
            <a:ext cx="1131094" cy="32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80"/>
          <p:cNvSpPr txBox="1"/>
          <p:nvPr/>
        </p:nvSpPr>
        <p:spPr>
          <a:xfrm>
            <a:off x="3872838" y="4629150"/>
            <a:ext cx="11637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1" i="0" lang="en-US" sz="2100" u="none">
                <a:solidFill>
                  <a:schemeClr val="dk1"/>
                </a:solidFill>
              </a:rPr>
              <a:t>lithium</a:t>
            </a:r>
            <a:endParaRPr sz="1100"/>
          </a:p>
        </p:txBody>
      </p:sp>
      <p:pic>
        <p:nvPicPr>
          <p:cNvPr descr="File:FlammenfärbungK.png" id="940" name="Google Shape;940;p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0" y="1428750"/>
            <a:ext cx="1085850" cy="3226594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0"/>
          <p:cNvSpPr txBox="1"/>
          <p:nvPr/>
        </p:nvSpPr>
        <p:spPr>
          <a:xfrm>
            <a:off x="5562600" y="4629150"/>
            <a:ext cx="1611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1" i="0" lang="en-US" sz="2100" u="none">
                <a:solidFill>
                  <a:schemeClr val="dk1"/>
                </a:solidFill>
              </a:rPr>
              <a:t>potassium</a:t>
            </a:r>
            <a:endParaRPr sz="1100"/>
          </a:p>
        </p:txBody>
      </p:sp>
      <p:pic>
        <p:nvPicPr>
          <p:cNvPr descr="File:FlammenfärbungCu.png" id="942" name="Google Shape;942;p8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3800" y="1428750"/>
            <a:ext cx="1085850" cy="3246834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0"/>
          <p:cNvSpPr txBox="1"/>
          <p:nvPr/>
        </p:nvSpPr>
        <p:spPr>
          <a:xfrm>
            <a:off x="7543800" y="4629150"/>
            <a:ext cx="11541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1" i="0" lang="en-US" sz="2100" u="none">
                <a:solidFill>
                  <a:schemeClr val="dk1"/>
                </a:solidFill>
              </a:rPr>
              <a:t>copper</a:t>
            </a:r>
            <a:endParaRPr sz="1100"/>
          </a:p>
        </p:txBody>
      </p:sp>
      <p:sp>
        <p:nvSpPr>
          <p:cNvPr id="944" name="Google Shape;944;p80"/>
          <p:cNvSpPr txBox="1"/>
          <p:nvPr/>
        </p:nvSpPr>
        <p:spPr>
          <a:xfrm>
            <a:off x="609600" y="571500"/>
            <a:ext cx="79248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chemeClr val="dk1"/>
                </a:solidFill>
              </a:rPr>
              <a:t>Many elements give off characteristic light which can be used to help identify them.</a:t>
            </a:r>
            <a:endParaRPr/>
          </a:p>
        </p:txBody>
      </p:sp>
      <p:sp>
        <p:nvSpPr>
          <p:cNvPr id="945" name="Google Shape;945;p80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1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Chemistry of Fireworks</a:t>
            </a:r>
            <a:endParaRPr/>
          </a:p>
        </p:txBody>
      </p:sp>
      <p:sp>
        <p:nvSpPr>
          <p:cNvPr id="952" name="Google Shape;952;p81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3" name="Google Shape;953;p81"/>
          <p:cNvSpPr txBox="1"/>
          <p:nvPr/>
        </p:nvSpPr>
        <p:spPr>
          <a:xfrm>
            <a:off x="5063575" y="4657650"/>
            <a:ext cx="40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Do Fireworks Work?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954" name="Google Shape;954;p8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467000"/>
            <a:ext cx="4758775" cy="3363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essor Chris Bishop, presenter of the 2008 Royal Institution Christmas Lectures, gives a family lecture on the history of the modern firework.&#10;&#10;Through demonstrations of pyrotechnic chemistry hear how Chinese incendiaries made from honey led to the development of gunpowder; discover how the loud bangs of fireworks are routed in the origins of photography; and find out how an accident in a nineteenth-century kitchen sparked a new chemistry for firework making.&#10;&#10;Recorded at the University of Cambridge on the 4 November 2011.&#10;&#10;The Ri is on Twitter: http://twitter.com/ri_science&#10;and Facebook: http://www.facebook.com/royalinstitution&#10;and Tumblr: http://ri-science.tumblr.com/&#10;Our editorial policy: http://www.rigb.org/home/editorial-policy&#10;Subscribe for the latest science videos: http://bit.ly/RiNewsletter" id="955" name="Google Shape;955;p81" title="The Science of Fireworks - with Chris Bishop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73000" y="2914800"/>
            <a:ext cx="304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week Reactions is checking out some firework science. There's a bunch of chemistry that goes on when these guys light up the sky at night. &#10;&#10;From the sizzle of the fuse to the boom and burst of colors, this video brings you all of the exciting sights and sounds of Fourth of July fireworks, plus a little chemical knowhow. John A. Conkling, Ph.D., shows how the familiar rockets and other neat products that light up the night sky all represent chemistry in action.&#10;&#10;Find us on all these places:&#10;Subscribe! http://bit.ly/ACSReactions&#10;Facebook! http://facebook.com/ACSReactions&#10;Twitter! http://twitter.com/ACSReactions" id="956" name="Google Shape;956;p81" title="The Chemistry of Fireworks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73000" y="11433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82"/>
          <p:cNvSpPr txBox="1"/>
          <p:nvPr>
            <p:ph type="title"/>
          </p:nvPr>
        </p:nvSpPr>
        <p:spPr>
          <a:xfrm>
            <a:off x="685800" y="195943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i="0" lang="en-US" sz="3400" u="none">
                <a:solidFill>
                  <a:schemeClr val="dk1"/>
                </a:solidFill>
              </a:rPr>
              <a:t>Absorption Spectra</a:t>
            </a:r>
            <a:r>
              <a:rPr lang="en-US" sz="3400">
                <a:solidFill>
                  <a:schemeClr val="dk1"/>
                </a:solidFill>
              </a:rPr>
              <a:t> </a:t>
            </a:r>
            <a:r>
              <a:rPr i="0" lang="en-US" sz="3400" u="none">
                <a:solidFill>
                  <a:schemeClr val="dk1"/>
                </a:solidFill>
              </a:rPr>
              <a:t>Exist </a:t>
            </a:r>
            <a:r>
              <a:rPr lang="en-US" sz="3400">
                <a:solidFill>
                  <a:schemeClr val="dk1"/>
                </a:solidFill>
              </a:rPr>
              <a:t>Too</a:t>
            </a:r>
            <a:endParaRPr sz="3400"/>
          </a:p>
        </p:txBody>
      </p:sp>
      <p:pic>
        <p:nvPicPr>
          <p:cNvPr descr="http://upload.wikimedia.org/wikipedia/commons/thumb/a/ae/Sodium_in_atmosphere_of_exoplanet_HD_209458.jpg/440px-Sodium_in_atmosphere_of_exoplanet_HD_209458.jpg" id="962" name="Google Shape;962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009650"/>
            <a:ext cx="5893594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82"/>
          <p:cNvSpPr txBox="1"/>
          <p:nvPr/>
        </p:nvSpPr>
        <p:spPr>
          <a:xfrm>
            <a:off x="685800" y="3067050"/>
            <a:ext cx="79248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example of applying Absorption spectroscopy is the first direct detection and chemical analysis of the atmosphere of a planet outside our solar system in 2001. Sodium filters the alien star light of HD 209458 as the hot Jupiter-lik</a:t>
            </a:r>
            <a:r>
              <a:rPr b="1" lang="en-US" sz="1800">
                <a:solidFill>
                  <a:schemeClr val="dk1"/>
                </a:solidFill>
              </a:rPr>
              <a:t>e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planet passes in front. The process and absorption spectrum are illustrated above.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Credit: A. Feild, STScI and NASA website.</a:t>
            </a:r>
            <a:endParaRPr/>
          </a:p>
        </p:txBody>
      </p:sp>
      <p:sp>
        <p:nvSpPr>
          <p:cNvPr id="964" name="Google Shape;964;p82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83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Sources</a:t>
            </a:r>
            <a:endParaRPr/>
          </a:p>
        </p:txBody>
      </p:sp>
      <p:sp>
        <p:nvSpPr>
          <p:cNvPr id="970" name="Google Shape;970;p83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http://en.wikipedia.org/wiki/D_electron_count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>
                <a:solidFill>
                  <a:srgbClr val="000000"/>
                </a:solidFill>
              </a:rPr>
              <a:t>ScienceGeek.net http://www.sciencegeek.net/index.html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971" name="Google Shape;971;p8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